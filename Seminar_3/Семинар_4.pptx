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1"/>
  </p:notesMasterIdLst>
  <p:sldIdLst>
    <p:sldId id="256" r:id="rId2"/>
    <p:sldId id="257" r:id="rId3"/>
    <p:sldId id="281" r:id="rId4"/>
    <p:sldId id="282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7" r:id="rId19"/>
    <p:sldId id="319" r:id="rId20"/>
    <p:sldId id="320" r:id="rId21"/>
    <p:sldId id="321" r:id="rId22"/>
    <p:sldId id="322" r:id="rId23"/>
    <p:sldId id="323" r:id="rId24"/>
    <p:sldId id="327" r:id="rId25"/>
    <p:sldId id="324" r:id="rId26"/>
    <p:sldId id="325" r:id="rId27"/>
    <p:sldId id="326" r:id="rId28"/>
    <p:sldId id="328" r:id="rId29"/>
    <p:sldId id="32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8776"/>
    <a:srgbClr val="A9D0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/>
    <p:restoredTop sz="94719"/>
  </p:normalViewPr>
  <p:slideViewPr>
    <p:cSldViewPr snapToGrid="0">
      <p:cViewPr varScale="1">
        <p:scale>
          <a:sx n="123" d="100"/>
          <a:sy n="123" d="100"/>
        </p:scale>
        <p:origin x="3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74327-12B0-EB47-B1A6-DAF9D43DA0C0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510CD-FF8E-D64D-BF59-BDF8304B7A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2881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60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439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235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8065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649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851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212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64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68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648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02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17AA1-EAB3-BD42-B45E-B4296725D77F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F9162-7454-324B-A3C4-3223A5D4FE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413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A5010-95F3-DC2D-C8BA-F7ADE14FAC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Семинар </a:t>
            </a:r>
            <a:r>
              <a:rPr lang="en-US" b="1" dirty="0"/>
              <a:t>4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3D1795-5578-611D-CEAC-A3AD100C38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+mj-lt"/>
                <a:ea typeface="Montserrat"/>
                <a:cs typeface="Montserrat"/>
                <a:sym typeface="Montserrat"/>
              </a:rPr>
              <a:t>Бизнес-аналитика и ИИ как инструмент эффективного управления</a:t>
            </a:r>
          </a:p>
          <a:p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687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BC561-371A-FA67-1509-7EA4611F8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Что сегодня будем делать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648A60-78CA-61EC-4996-A43C14511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u-RU" sz="2400" dirty="0"/>
              <a:t>Познакомимся с метриками, которыми оперируют </a:t>
            </a:r>
            <a:r>
              <a:rPr lang="en-US" sz="2400" dirty="0"/>
              <a:t>Data Scientist’</a:t>
            </a:r>
            <a:r>
              <a:rPr lang="ru-RU" sz="2400" dirty="0"/>
              <a:t>ы</a:t>
            </a:r>
          </a:p>
          <a:p>
            <a:pPr>
              <a:buFontTx/>
              <a:buChar char="-"/>
            </a:pPr>
            <a:r>
              <a:rPr lang="ru-RU" sz="2400" dirty="0"/>
              <a:t>Поймем в каких задачах, что используем</a:t>
            </a:r>
          </a:p>
          <a:p>
            <a:pPr>
              <a:buFontTx/>
              <a:buChar char="-"/>
            </a:pPr>
            <a:r>
              <a:rPr lang="ru-RU" sz="2400" dirty="0"/>
              <a:t>Начнем знакомство с более сложными </a:t>
            </a:r>
            <a:r>
              <a:rPr lang="en-US" sz="2400" dirty="0"/>
              <a:t>ML-</a:t>
            </a:r>
            <a:r>
              <a:rPr lang="ru-RU" sz="2400" dirty="0"/>
              <a:t>моделями</a:t>
            </a:r>
          </a:p>
        </p:txBody>
      </p:sp>
    </p:spTree>
    <p:extLst>
      <p:ext uri="{BB962C8B-B14F-4D97-AF65-F5344CB8AC3E}">
        <p14:creationId xmlns:p14="http://schemas.microsoft.com/office/powerpoint/2010/main" val="81292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B36BE-15AB-14EB-BB6C-AF77B9F6A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5C8B5-3934-3D01-BF71-19E101483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23" y="167698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prstClr val="black"/>
                </a:solidFill>
                <a:latin typeface="Arial" panose="020B0604020202020204"/>
              </a:rPr>
              <a:t>Суть</a:t>
            </a:r>
            <a:endParaRPr lang="ru-RU" sz="3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846F8-3F91-A41E-9EB0-8650E5D0AEA8}"/>
              </a:ext>
            </a:extLst>
          </p:cNvPr>
          <p:cNvSpPr txBox="1"/>
          <p:nvPr/>
        </p:nvSpPr>
        <p:spPr>
          <a:xfrm>
            <a:off x="838196" y="1350154"/>
            <a:ext cx="1035853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/>
              <a:t>Метрики нужны не ради красивых чисел, а чтобы понять, полезна ли модель в конкретных ситуациях</a:t>
            </a:r>
          </a:p>
          <a:p>
            <a:endParaRPr lang="ru-RU" i="1" dirty="0"/>
          </a:p>
          <a:p>
            <a:endParaRPr lang="ru-RU" dirty="0"/>
          </a:p>
          <a:p>
            <a:r>
              <a:rPr lang="ru-RU" dirty="0"/>
              <a:t>Есть две группы метрик:</a:t>
            </a:r>
          </a:p>
          <a:p>
            <a:endParaRPr lang="ru-RU" i="1" dirty="0"/>
          </a:p>
          <a:p>
            <a:r>
              <a:rPr lang="ru-RU" i="1" dirty="0"/>
              <a:t>1. </a:t>
            </a:r>
            <a:r>
              <a:rPr lang="en" i="1" dirty="0"/>
              <a:t>ML-</a:t>
            </a:r>
            <a:r>
              <a:rPr lang="ru-RU" i="1" dirty="0"/>
              <a:t>метрики — качество предсказаний как таковых</a:t>
            </a:r>
          </a:p>
          <a:p>
            <a:r>
              <a:rPr lang="ru-RU" i="1" dirty="0"/>
              <a:t>   (</a:t>
            </a:r>
            <a:r>
              <a:rPr lang="en" i="1" dirty="0"/>
              <a:t>MAE, RMSE, Accuracy, ROC-AUC, F1…)</a:t>
            </a:r>
            <a:r>
              <a:rPr lang="ru-RU" i="1" dirty="0"/>
              <a:t> – об этом сегодня и поговорим</a:t>
            </a:r>
          </a:p>
          <a:p>
            <a:endParaRPr lang="en" i="1" dirty="0"/>
          </a:p>
          <a:p>
            <a:r>
              <a:rPr lang="en" i="1" dirty="0"/>
              <a:t>2. </a:t>
            </a:r>
            <a:r>
              <a:rPr lang="ru-RU" i="1" dirty="0"/>
              <a:t>Бизнес-метрики — деньги и эффект</a:t>
            </a:r>
          </a:p>
          <a:p>
            <a:r>
              <a:rPr lang="ru-RU" i="1" dirty="0"/>
              <a:t>   (выручка, маржа, </a:t>
            </a:r>
            <a:r>
              <a:rPr lang="en" i="1" dirty="0"/>
              <a:t>ROI </a:t>
            </a:r>
            <a:r>
              <a:rPr lang="ru-RU" i="1" dirty="0"/>
              <a:t>кампании, уменьшение оттока, экономия колл-центра…)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DB96B-C413-81AB-4078-7785A4AAC1E3}"/>
              </a:ext>
            </a:extLst>
          </p:cNvPr>
          <p:cNvSpPr txBox="1"/>
          <p:nvPr/>
        </p:nvSpPr>
        <p:spPr>
          <a:xfrm>
            <a:off x="834731" y="4492183"/>
            <a:ext cx="1035853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i="1" dirty="0"/>
          </a:p>
          <a:p>
            <a:pPr marL="285750" indent="-285750">
              <a:buFont typeface="Wingdings" pitchFamily="2" charset="2"/>
              <a:buChar char="Ø"/>
            </a:pPr>
            <a:r>
              <a:rPr lang="ru-RU" i="1" dirty="0"/>
              <a:t>Улучшение </a:t>
            </a:r>
            <a:r>
              <a:rPr lang="en" i="1" dirty="0"/>
              <a:t>ML-</a:t>
            </a:r>
            <a:r>
              <a:rPr lang="ru-RU" i="1" dirty="0"/>
              <a:t>метрики имеет смысл, только если оно ведёт к улучшению бизнес-метрики.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ru-RU" i="1" dirty="0"/>
              <a:t>При тестировании на исторических данных – почти никогда не можем оценивать бизнес-метрики. Оперируем </a:t>
            </a:r>
            <a:r>
              <a:rPr lang="en-US" i="1" dirty="0"/>
              <a:t>ML-</a:t>
            </a:r>
            <a:r>
              <a:rPr lang="ru-RU" i="1" dirty="0"/>
              <a:t>метриками. В онлайне (</a:t>
            </a:r>
            <a:r>
              <a:rPr lang="en-US" i="1" dirty="0"/>
              <a:t>A/B-</a:t>
            </a:r>
            <a:r>
              <a:rPr lang="ru-RU" i="1" dirty="0"/>
              <a:t>тест, работающая модель) – считаем и то, и другое</a:t>
            </a:r>
          </a:p>
          <a:p>
            <a:pPr marL="285750" indent="-285750">
              <a:buFont typeface="Wingdings" pitchFamily="2" charset="2"/>
              <a:buChar char="Ø"/>
            </a:pPr>
            <a:endParaRPr lang="ru-RU" i="1" dirty="0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C2C01498-8EF2-C51F-17A7-BC3D7B3A45C1}"/>
              </a:ext>
            </a:extLst>
          </p:cNvPr>
          <p:cNvSpPr/>
          <p:nvPr/>
        </p:nvSpPr>
        <p:spPr>
          <a:xfrm>
            <a:off x="758536" y="1246909"/>
            <a:ext cx="10434730" cy="8520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AC3814BD-533C-55E2-2714-67FD1CC9CED6}"/>
              </a:ext>
            </a:extLst>
          </p:cNvPr>
          <p:cNvSpPr/>
          <p:nvPr/>
        </p:nvSpPr>
        <p:spPr>
          <a:xfrm>
            <a:off x="758536" y="4592720"/>
            <a:ext cx="10434730" cy="180657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061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F16B3-B23D-EEFE-CE6A-1BA22471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C45B9-B4E2-33CF-8FFC-70376773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MAE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BC458-F9D7-CDBC-54AD-DDFAD44EBEB9}"/>
              </a:ext>
            </a:extLst>
          </p:cNvPr>
          <p:cNvSpPr txBox="1"/>
          <p:nvPr/>
        </p:nvSpPr>
        <p:spPr>
          <a:xfrm>
            <a:off x="966355" y="2421082"/>
            <a:ext cx="845127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MAE = «</a:t>
            </a:r>
            <a:r>
              <a:rPr lang="ru-RU" dirty="0"/>
              <a:t>в среднем на сколько мы промахиваемся».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Считаем абсолютную разницу </a:t>
            </a:r>
            <a:r>
              <a:rPr lang="ru-RU" b="1" dirty="0"/>
              <a:t>между прогнозом и фактом </a:t>
            </a:r>
            <a:r>
              <a:rPr lang="ru-RU" dirty="0"/>
              <a:t>для каждого объекта и берём среднее.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Почему хороша для бизнеса: Измеряется в тех же единицах, что и </a:t>
            </a:r>
            <a:r>
              <a:rPr lang="ru-RU" dirty="0" err="1"/>
              <a:t>таргет</a:t>
            </a:r>
            <a:r>
              <a:rPr lang="ru-RU" dirty="0"/>
              <a:t> (Прогнозируем чек в рублях → </a:t>
            </a:r>
            <a:r>
              <a:rPr lang="en" dirty="0"/>
              <a:t>MAE </a:t>
            </a:r>
            <a:r>
              <a:rPr lang="ru-RU" dirty="0"/>
              <a:t>в рублях)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8E8CA-F34A-CC30-51A3-AA5B24C7A82B}"/>
              </a:ext>
            </a:extLst>
          </p:cNvPr>
          <p:cNvSpPr txBox="1"/>
          <p:nvPr/>
        </p:nvSpPr>
        <p:spPr>
          <a:xfrm>
            <a:off x="883227" y="1695896"/>
            <a:ext cx="646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MAE — Mean Absolute Error (</a:t>
            </a:r>
            <a:r>
              <a:rPr lang="ru-RU" dirty="0"/>
              <a:t>средняя абсолютная ошибка)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5583C6BF-4CE2-02D8-78B4-9F0EA63E40A6}"/>
              </a:ext>
            </a:extLst>
          </p:cNvPr>
          <p:cNvSpPr/>
          <p:nvPr/>
        </p:nvSpPr>
        <p:spPr>
          <a:xfrm>
            <a:off x="838200" y="2327564"/>
            <a:ext cx="8496300" cy="28345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68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B24CA-7289-8CA9-3910-A32FD9BB3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B99D4-B8B1-DBB1-1DDE-C6D468F79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MAE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5DD96-D1C4-DB7C-3941-C84C6BEF778C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85F67-6BFD-365B-30C8-9282E12B2F76}"/>
              </a:ext>
            </a:extLst>
          </p:cNvPr>
          <p:cNvSpPr txBox="1"/>
          <p:nvPr/>
        </p:nvSpPr>
        <p:spPr>
          <a:xfrm>
            <a:off x="883227" y="1695896"/>
            <a:ext cx="646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MAE — Mean Absolute Error (</a:t>
            </a:r>
            <a:r>
              <a:rPr lang="ru-RU" dirty="0"/>
              <a:t>средняя абсолютная ошибка)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C43ED-F98A-42E9-7E8D-DA461A03C48A}"/>
              </a:ext>
            </a:extLst>
          </p:cNvPr>
          <p:cNvSpPr txBox="1"/>
          <p:nvPr/>
        </p:nvSpPr>
        <p:spPr>
          <a:xfrm>
            <a:off x="7320396" y="2319360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B32314-5F7D-D3E8-4AD7-6B59E83CB25D}"/>
              </a:ext>
            </a:extLst>
          </p:cNvPr>
          <p:cNvSpPr txBox="1"/>
          <p:nvPr/>
        </p:nvSpPr>
        <p:spPr>
          <a:xfrm>
            <a:off x="883227" y="2784764"/>
            <a:ext cx="47382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Важно понимать средний промах на клиента:</a:t>
            </a:r>
          </a:p>
          <a:p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i="1" dirty="0"/>
              <a:t>Прогноз среднего заказа в </a:t>
            </a:r>
            <a:r>
              <a:rPr lang="en" i="1" dirty="0"/>
              <a:t>e-commerce</a:t>
            </a:r>
            <a:endParaRPr lang="ru-RU" i="1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i="1" dirty="0"/>
              <a:t>Прогноз месячной выручки по магазину/региону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i="1" dirty="0"/>
              <a:t>Прогноз </a:t>
            </a:r>
            <a:r>
              <a:rPr lang="en" i="1" dirty="0"/>
              <a:t>LTV </a:t>
            </a:r>
            <a:r>
              <a:rPr lang="ru-RU" i="1" dirty="0"/>
              <a:t>клиента для расчёта допустимого </a:t>
            </a:r>
            <a:r>
              <a:rPr lang="en" i="1" dirty="0"/>
              <a:t>CAC.</a:t>
            </a:r>
            <a:endParaRPr lang="ru-RU" i="1" dirty="0"/>
          </a:p>
          <a:p>
            <a:pPr lvl="1"/>
            <a:endParaRPr lang="en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ошибка в плюс и в минус одинаково болезненна.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1D0E5-1707-CAED-E0AA-03DCFB1422C1}"/>
              </a:ext>
            </a:extLst>
          </p:cNvPr>
          <p:cNvSpPr txBox="1"/>
          <p:nvPr/>
        </p:nvSpPr>
        <p:spPr>
          <a:xfrm>
            <a:off x="6095999" y="2784764"/>
            <a:ext cx="47382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по данным есть очень большие “хвосты”: несколько экстремальных значений могут искажать картину (но не так сильно, как в некоторых других метриках)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показывает, хорош ли прогноз относительно масштаба:</a:t>
            </a:r>
          </a:p>
          <a:p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" i="1" dirty="0"/>
              <a:t>MAE = 1000 </a:t>
            </a:r>
            <a:r>
              <a:rPr lang="ru-RU" i="1" dirty="0"/>
              <a:t>₽ — это много или мало? Если средний чек 1500 ₽ — ужас. Если прогнозируем годовой </a:t>
            </a:r>
            <a:r>
              <a:rPr lang="en" i="1" dirty="0"/>
              <a:t>LTV 300 000 </a:t>
            </a:r>
            <a:r>
              <a:rPr lang="ru-RU" i="1" dirty="0"/>
              <a:t>₽ — ерунда.</a:t>
            </a:r>
          </a:p>
        </p:txBody>
      </p:sp>
    </p:spTree>
    <p:extLst>
      <p:ext uri="{BB962C8B-B14F-4D97-AF65-F5344CB8AC3E}">
        <p14:creationId xmlns:p14="http://schemas.microsoft.com/office/powerpoint/2010/main" val="228107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4BAE-66AC-929E-2952-10AA47EAE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497A39-D0F4-E40A-6EDF-4C5F1E7D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MSE / RMSE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A45A3-F00D-CE24-76C2-4A87D4153DB8}"/>
              </a:ext>
            </a:extLst>
          </p:cNvPr>
          <p:cNvSpPr txBox="1"/>
          <p:nvPr/>
        </p:nvSpPr>
        <p:spPr>
          <a:xfrm>
            <a:off x="966355" y="2867895"/>
            <a:ext cx="89985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MSE — </a:t>
            </a:r>
            <a:r>
              <a:rPr lang="ru-RU" dirty="0"/>
              <a:t>средний квадрат ошибки (более техническая метрика)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RMSE — </a:t>
            </a:r>
            <a:r>
              <a:rPr lang="ru-RU" dirty="0"/>
              <a:t>корень из </a:t>
            </a:r>
            <a:r>
              <a:rPr lang="en" dirty="0"/>
              <a:t>MSE, </a:t>
            </a:r>
            <a:r>
              <a:rPr lang="ru-RU" dirty="0"/>
              <a:t>возвращает единицы обратно (рубли, доллары).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Крупные ошибки штрафуются сильнее, т.к. ошибка возводится в квадрат.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r>
              <a:rPr lang="ru-RU" dirty="0"/>
              <a:t>Если для бизнеса очень плохо сильно промахнуться (например, </a:t>
            </a:r>
            <a:r>
              <a:rPr lang="ru-RU" dirty="0" err="1"/>
              <a:t>недозаказать</a:t>
            </a:r>
            <a:r>
              <a:rPr lang="ru-RU" dirty="0"/>
              <a:t> или сильно переплатить), </a:t>
            </a:r>
            <a:r>
              <a:rPr lang="en" dirty="0"/>
              <a:t>RMSE </a:t>
            </a:r>
            <a:r>
              <a:rPr lang="ru-RU" dirty="0"/>
              <a:t>более чувствителен к таким промахам, чем </a:t>
            </a:r>
            <a:r>
              <a:rPr lang="en" dirty="0"/>
              <a:t>MAE.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89C63-B6F0-E29A-188E-68A255E9D864}"/>
              </a:ext>
            </a:extLst>
          </p:cNvPr>
          <p:cNvSpPr txBox="1"/>
          <p:nvPr/>
        </p:nvSpPr>
        <p:spPr>
          <a:xfrm>
            <a:off x="883227" y="1529640"/>
            <a:ext cx="870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MSE — Mean Squared Error</a:t>
            </a:r>
            <a:r>
              <a:rPr lang="ru-RU" dirty="0"/>
              <a:t> </a:t>
            </a:r>
            <a:r>
              <a:rPr lang="en" dirty="0"/>
              <a:t>(</a:t>
            </a:r>
            <a:r>
              <a:rPr lang="ru-RU" dirty="0"/>
              <a:t>средний квадрат ошибки)</a:t>
            </a:r>
          </a:p>
          <a:p>
            <a:r>
              <a:rPr lang="en-US" dirty="0"/>
              <a:t>RMSE </a:t>
            </a:r>
            <a:r>
              <a:rPr lang="en" dirty="0"/>
              <a:t>— Root Mean Squared Error</a:t>
            </a:r>
            <a:r>
              <a:rPr lang="ru-RU" dirty="0"/>
              <a:t> </a:t>
            </a:r>
            <a:r>
              <a:rPr lang="en" dirty="0"/>
              <a:t>(</a:t>
            </a:r>
            <a:r>
              <a:rPr lang="ru-RU" dirty="0"/>
              <a:t>корень из </a:t>
            </a:r>
            <a:r>
              <a:rPr lang="en" dirty="0"/>
              <a:t>MSE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0B28144A-F847-CA4D-D12A-E857C6E65929}"/>
              </a:ext>
            </a:extLst>
          </p:cNvPr>
          <p:cNvSpPr/>
          <p:nvPr/>
        </p:nvSpPr>
        <p:spPr>
          <a:xfrm>
            <a:off x="838200" y="2774376"/>
            <a:ext cx="9656618" cy="341860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90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A0EFE-5405-F235-D5AF-A3538E88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88D95-1B50-28D4-F75A-4AEF7A41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MSE / RMSE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AE1C1-96F0-3DCD-11D1-87AB1CDC4D31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B61505-B46F-AC34-FD05-46F10F29E6BB}"/>
              </a:ext>
            </a:extLst>
          </p:cNvPr>
          <p:cNvSpPr txBox="1"/>
          <p:nvPr/>
        </p:nvSpPr>
        <p:spPr>
          <a:xfrm>
            <a:off x="7320396" y="2327197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95004-2F4A-9835-0D6C-7D0AA6B47E04}"/>
              </a:ext>
            </a:extLst>
          </p:cNvPr>
          <p:cNvSpPr txBox="1"/>
          <p:nvPr/>
        </p:nvSpPr>
        <p:spPr>
          <a:xfrm>
            <a:off x="883226" y="2784764"/>
            <a:ext cx="47382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Прогноз спроса или загрузки склада, где большие ошибки влекут серьёзные издержки:</a:t>
            </a:r>
          </a:p>
          <a:p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 err="1"/>
              <a:t>Недозаказ</a:t>
            </a:r>
            <a:r>
              <a:rPr lang="ru-RU" dirty="0"/>
              <a:t> → потерянная выручка.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 err="1"/>
              <a:t>Перезаказ</a:t>
            </a:r>
            <a:r>
              <a:rPr lang="ru-RU" dirty="0"/>
              <a:t> → неликвид, логистика, списание.</a:t>
            </a:r>
          </a:p>
          <a:p>
            <a:pPr lvl="1"/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Планирование маркетинговых бюджетов по каналам, где сильные промахи приводят к перерасходу/недоиспользованию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E5788F-D201-5EF6-B80F-D4C949A261DA}"/>
              </a:ext>
            </a:extLst>
          </p:cNvPr>
          <p:cNvSpPr txBox="1"/>
          <p:nvPr/>
        </p:nvSpPr>
        <p:spPr>
          <a:xfrm>
            <a:off x="6096000" y="2784764"/>
            <a:ext cx="47382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данные шумные, с редкими большими «выбросами», </a:t>
            </a:r>
            <a:r>
              <a:rPr lang="en" dirty="0"/>
              <a:t>RMSE </a:t>
            </a:r>
            <a:r>
              <a:rPr lang="ru-RU" dirty="0"/>
              <a:t>может казаться плохим, даже если модель в целом разумна.</a:t>
            </a:r>
            <a:endParaRPr lang="en-US" dirty="0"/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Менее интуитивен, нежели </a:t>
            </a:r>
            <a:r>
              <a:rPr lang="en-US" dirty="0"/>
              <a:t>MAE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показывает, хорош ли прогноз относительно масштаба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59469-D1CE-CA6A-906E-5928DDD38985}"/>
              </a:ext>
            </a:extLst>
          </p:cNvPr>
          <p:cNvSpPr txBox="1"/>
          <p:nvPr/>
        </p:nvSpPr>
        <p:spPr>
          <a:xfrm>
            <a:off x="883227" y="1529640"/>
            <a:ext cx="8707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MSE — Mean Squared Error</a:t>
            </a:r>
            <a:r>
              <a:rPr lang="ru-RU" dirty="0"/>
              <a:t> </a:t>
            </a:r>
            <a:r>
              <a:rPr lang="en" dirty="0"/>
              <a:t>(</a:t>
            </a:r>
            <a:r>
              <a:rPr lang="ru-RU" dirty="0"/>
              <a:t>средний квадрат ошибки)</a:t>
            </a:r>
          </a:p>
          <a:p>
            <a:r>
              <a:rPr lang="en-US" dirty="0"/>
              <a:t>RMSE </a:t>
            </a:r>
            <a:r>
              <a:rPr lang="en" dirty="0"/>
              <a:t>— Root Mean Squared Error</a:t>
            </a:r>
            <a:r>
              <a:rPr lang="ru-RU" dirty="0"/>
              <a:t> </a:t>
            </a:r>
            <a:r>
              <a:rPr lang="en" dirty="0"/>
              <a:t>(</a:t>
            </a:r>
            <a:r>
              <a:rPr lang="ru-RU" dirty="0"/>
              <a:t>корень из </a:t>
            </a:r>
            <a:r>
              <a:rPr lang="en" dirty="0"/>
              <a:t>MSE</a:t>
            </a:r>
            <a:r>
              <a:rPr lang="ru-RU" dirty="0"/>
              <a:t>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63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AA43-F9D3-C620-1144-3991F49F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CEE57-2D00-F43F-CBF0-DD5CC92A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MAPE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6E9AF-E389-3CBE-2097-C2D3963F5A9D}"/>
              </a:ext>
            </a:extLst>
          </p:cNvPr>
          <p:cNvSpPr txBox="1"/>
          <p:nvPr/>
        </p:nvSpPr>
        <p:spPr>
          <a:xfrm>
            <a:off x="966355" y="2867895"/>
            <a:ext cx="8998527" cy="1425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MAPE </a:t>
            </a:r>
            <a:r>
              <a:rPr lang="ru-RU" dirty="0"/>
              <a:t>говорит: на сколько процентов в среднем мы ошибаемся.</a:t>
            </a:r>
          </a:p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ru-RU" dirty="0"/>
              <a:t>Пример: </a:t>
            </a:r>
            <a:r>
              <a:rPr lang="en" dirty="0"/>
              <a:t>MAPE = 10% → </a:t>
            </a:r>
            <a:r>
              <a:rPr lang="ru-RU" dirty="0"/>
              <a:t>в среднем наш прогноз на 10% выше/ниже факта.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77DA90-CA3C-D1A2-AB1F-35A60840E527}"/>
              </a:ext>
            </a:extLst>
          </p:cNvPr>
          <p:cNvSpPr txBox="1"/>
          <p:nvPr/>
        </p:nvSpPr>
        <p:spPr>
          <a:xfrm>
            <a:off x="883227" y="1540031"/>
            <a:ext cx="870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MAPE — Mean Absolute Percentage Error (</a:t>
            </a:r>
            <a:r>
              <a:rPr lang="ru-RU" dirty="0"/>
              <a:t>средняя относительная ошибка)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CF7184E-398A-368D-ADA2-585B175AD2C6}"/>
              </a:ext>
            </a:extLst>
          </p:cNvPr>
          <p:cNvSpPr/>
          <p:nvPr/>
        </p:nvSpPr>
        <p:spPr>
          <a:xfrm>
            <a:off x="838200" y="2774377"/>
            <a:ext cx="9656618" cy="16313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07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B468-5D16-3F73-3DBB-E68A3C075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D3D8F5-FCC5-14BB-71E1-D5DCBD92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MAPE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0B0F1-A1BC-E226-E8F8-59DF368CEDB6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92689-30CD-B454-B43D-9B8737A7DE15}"/>
              </a:ext>
            </a:extLst>
          </p:cNvPr>
          <p:cNvSpPr txBox="1"/>
          <p:nvPr/>
        </p:nvSpPr>
        <p:spPr>
          <a:xfrm>
            <a:off x="7320396" y="2327197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191F3-9CE6-E3AE-33C1-15B85E00EE92}"/>
              </a:ext>
            </a:extLst>
          </p:cNvPr>
          <p:cNvSpPr txBox="1"/>
          <p:nvPr/>
        </p:nvSpPr>
        <p:spPr>
          <a:xfrm>
            <a:off x="883226" y="2784764"/>
            <a:ext cx="47382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Показывает, хорош ли прогноз относительно масштаба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Удобно сравнивать качество прогнозов на разных рынках/продуктах:</a:t>
            </a:r>
          </a:p>
          <a:p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В одном регионе выручка 1 млн, в другом 100 млн; </a:t>
            </a:r>
            <a:r>
              <a:rPr lang="en" dirty="0"/>
              <a:t>MAPE </a:t>
            </a:r>
            <a:r>
              <a:rPr lang="ru-RU" dirty="0"/>
              <a:t>нормализует масштаб.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484326-BEC0-91D2-0985-B072A2794EA2}"/>
              </a:ext>
            </a:extLst>
          </p:cNvPr>
          <p:cNvSpPr txBox="1"/>
          <p:nvPr/>
        </p:nvSpPr>
        <p:spPr>
          <a:xfrm>
            <a:off x="6096000" y="2784764"/>
            <a:ext cx="4738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Плохо работает, когда фактическое значение ≈ 0 (деление на маленькие числа → огромные проценты).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Может вводить в заблуждение, если важны абсолютные деньги, а не проценты.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927B56-ECFE-C7CF-5966-F72370EEFB68}"/>
              </a:ext>
            </a:extLst>
          </p:cNvPr>
          <p:cNvSpPr txBox="1"/>
          <p:nvPr/>
        </p:nvSpPr>
        <p:spPr>
          <a:xfrm>
            <a:off x="883227" y="1529640"/>
            <a:ext cx="870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MAPE — Mean Absolute Percentage Error (</a:t>
            </a:r>
            <a:r>
              <a:rPr lang="ru-RU" dirty="0"/>
              <a:t>средняя относительная ошибка)</a:t>
            </a:r>
          </a:p>
        </p:txBody>
      </p:sp>
    </p:spTree>
    <p:extLst>
      <p:ext uri="{BB962C8B-B14F-4D97-AF65-F5344CB8AC3E}">
        <p14:creationId xmlns:p14="http://schemas.microsoft.com/office/powerpoint/2010/main" val="68339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A3E6D-E0E8-AEC3-2359-6BBB625D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A7802-BCC1-AE2E-ACB9-9B6152EF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R^2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BD6347-5CF0-DF38-B09B-71359309826E}"/>
              </a:ext>
            </a:extLst>
          </p:cNvPr>
          <p:cNvSpPr txBox="1"/>
          <p:nvPr/>
        </p:nvSpPr>
        <p:spPr>
          <a:xfrm>
            <a:off x="966355" y="2867895"/>
            <a:ext cx="8998527" cy="1425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Показывает, какую долю разброса в данных модель «объясняет».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Лежит в пределах от 0 до 1 (иногда может быть &lt; 0, но это совсем плохо).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9D8B9B-879F-E274-0C2F-FCFF10201F26}"/>
              </a:ext>
            </a:extLst>
          </p:cNvPr>
          <p:cNvSpPr txBox="1"/>
          <p:nvPr/>
        </p:nvSpPr>
        <p:spPr>
          <a:xfrm>
            <a:off x="883227" y="1540031"/>
            <a:ext cx="870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R^2 — R squared (</a:t>
            </a:r>
            <a:r>
              <a:rPr lang="ru-RU" dirty="0"/>
              <a:t>коэффициент детерминации)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DBE54D12-8411-316E-6588-29CFA160AEAE}"/>
              </a:ext>
            </a:extLst>
          </p:cNvPr>
          <p:cNvSpPr/>
          <p:nvPr/>
        </p:nvSpPr>
        <p:spPr>
          <a:xfrm>
            <a:off x="838200" y="2774377"/>
            <a:ext cx="9656618" cy="16313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4631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DBCF-49F2-74D5-168A-F3A258F76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14D0C-9E86-5672-09C4-66E0CEF2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регрессии: </a:t>
            </a:r>
            <a:r>
              <a:rPr lang="en-US" sz="2800" b="1" dirty="0">
                <a:solidFill>
                  <a:prstClr val="black"/>
                </a:solidFill>
                <a:latin typeface="Arial" panose="020B0604020202020204"/>
              </a:rPr>
              <a:t>R^2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36785-8C80-86DF-17CF-D29AFDF77FEC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BE142-F1F3-57FC-B104-593C8365E0DD}"/>
              </a:ext>
            </a:extLst>
          </p:cNvPr>
          <p:cNvSpPr txBox="1"/>
          <p:nvPr/>
        </p:nvSpPr>
        <p:spPr>
          <a:xfrm>
            <a:off x="7320396" y="2327197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21CCC4-223E-2491-4CF6-52CED2BD96D1}"/>
              </a:ext>
            </a:extLst>
          </p:cNvPr>
          <p:cNvSpPr txBox="1"/>
          <p:nvPr/>
        </p:nvSpPr>
        <p:spPr>
          <a:xfrm>
            <a:off x="883226" y="2784764"/>
            <a:ext cx="47382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нужно сравнить модели между собой или с тривиальными предсказаниями (константный прогноз)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Удобно выставлять пороги качества, когда уже есть экспертиза, т.к. значения всегда от 0 до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Показывает, хорош ли прогноз относительно масштаба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B470F-9C39-11EE-3766-5F4D010237C6}"/>
              </a:ext>
            </a:extLst>
          </p:cNvPr>
          <p:cNvSpPr txBox="1"/>
          <p:nvPr/>
        </p:nvSpPr>
        <p:spPr>
          <a:xfrm>
            <a:off x="6096000" y="2784764"/>
            <a:ext cx="47382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Абсолютное значение </a:t>
            </a:r>
            <a:r>
              <a:rPr lang="en" dirty="0"/>
              <a:t>R² </a:t>
            </a:r>
            <a:r>
              <a:rPr lang="ru-RU" dirty="0"/>
              <a:t>ничего не говорит о бизнес-качестве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Этой метрикой можно манипулировать просто за счет добавления в модель большего кол-ва признаков, что приводит к снижению устойчивости и долгосрочного качества.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15958-D315-2AD4-6EFC-E60622995B8D}"/>
              </a:ext>
            </a:extLst>
          </p:cNvPr>
          <p:cNvSpPr txBox="1"/>
          <p:nvPr/>
        </p:nvSpPr>
        <p:spPr>
          <a:xfrm>
            <a:off x="883227" y="1540031"/>
            <a:ext cx="870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/>
              <a:t>R^2 — R squared (</a:t>
            </a:r>
            <a:r>
              <a:rPr lang="ru-RU" dirty="0"/>
              <a:t>коэффициент детерминации)</a:t>
            </a:r>
          </a:p>
        </p:txBody>
      </p:sp>
    </p:spTree>
    <p:extLst>
      <p:ext uri="{BB962C8B-B14F-4D97-AF65-F5344CB8AC3E}">
        <p14:creationId xmlns:p14="http://schemas.microsoft.com/office/powerpoint/2010/main" val="3795769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2A5D0-C2C8-F696-DB57-76844DCA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FA3593-A5D7-0CA8-FC01-274ECC66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lang="ru-RU" sz="2800" b="1" dirty="0">
                <a:solidFill>
                  <a:prstClr val="black"/>
                </a:solidFill>
                <a:latin typeface="Arial" panose="020B0604020202020204"/>
              </a:rPr>
              <a:t>матрица ошибок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44F30-C7A3-0BE8-CC03-5DAF5BF23CE3}"/>
              </a:ext>
            </a:extLst>
          </p:cNvPr>
          <p:cNvSpPr txBox="1"/>
          <p:nvPr/>
        </p:nvSpPr>
        <p:spPr>
          <a:xfrm>
            <a:off x="838200" y="1325710"/>
            <a:ext cx="727314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База: </a:t>
            </a:r>
            <a:r>
              <a:rPr lang="en" dirty="0"/>
              <a:t>confusion matrix (</a:t>
            </a:r>
            <a:r>
              <a:rPr lang="ru-RU" dirty="0"/>
              <a:t>матрица ошибок)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TP (True Positive) — </a:t>
            </a:r>
            <a:r>
              <a:rPr lang="ru-RU" dirty="0"/>
              <a:t>предсказали «да» и в реальности «да»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FP (False Positive) — </a:t>
            </a:r>
            <a:r>
              <a:rPr lang="ru-RU" dirty="0"/>
              <a:t>предсказали «да», но в реальности «нет»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FN (False Negative) — </a:t>
            </a:r>
            <a:r>
              <a:rPr lang="ru-RU" dirty="0"/>
              <a:t>предсказали «нет», а в реальности «да»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dirty="0"/>
              <a:t>TN (True Negative) — </a:t>
            </a:r>
            <a:r>
              <a:rPr lang="ru-RU" dirty="0"/>
              <a:t>предсказали «нет» и в реальности «нет»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8EE3C66F-1928-202C-3506-098B767B0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08" y="3117272"/>
            <a:ext cx="4864268" cy="3584864"/>
          </a:xfrm>
          <a:prstGeom prst="rect">
            <a:avLst/>
          </a:prstGeom>
        </p:spPr>
      </p:pic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D046CB6-8CE3-4E4D-5FB6-4032277585FE}"/>
              </a:ext>
            </a:extLst>
          </p:cNvPr>
          <p:cNvSpPr/>
          <p:nvPr/>
        </p:nvSpPr>
        <p:spPr>
          <a:xfrm>
            <a:off x="6587834" y="3262745"/>
            <a:ext cx="4114803" cy="12365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8F1AFC-35DE-5DC8-60E6-692CAAD6E0E7}"/>
              </a:ext>
            </a:extLst>
          </p:cNvPr>
          <p:cNvSpPr txBox="1"/>
          <p:nvPr/>
        </p:nvSpPr>
        <p:spPr>
          <a:xfrm>
            <a:off x="6743700" y="3417170"/>
            <a:ext cx="3927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Все метрики классификации — разные способы посмотреть на эту матрицу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F20B0D32-1851-1FBC-1B2D-FF627A372EAB}"/>
              </a:ext>
            </a:extLst>
          </p:cNvPr>
          <p:cNvSpPr/>
          <p:nvPr/>
        </p:nvSpPr>
        <p:spPr>
          <a:xfrm>
            <a:off x="5634948" y="4871604"/>
            <a:ext cx="6206422" cy="15603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EB2EBC-AAEF-F211-D953-624F58ABB9A9}"/>
              </a:ext>
            </a:extLst>
          </p:cNvPr>
          <p:cNvSpPr txBox="1"/>
          <p:nvPr/>
        </p:nvSpPr>
        <p:spPr>
          <a:xfrm>
            <a:off x="5787943" y="4954641"/>
            <a:ext cx="62064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Помним: прогнозом модели классификации является вероятность принадлежности объекта к классу 1. Изменяя порог принятия решения (после какой вероятности мы считаем это наблюдение за 1), мы почти всегда меняем и метрику</a:t>
            </a:r>
          </a:p>
        </p:txBody>
      </p:sp>
    </p:spTree>
    <p:extLst>
      <p:ext uri="{BB962C8B-B14F-4D97-AF65-F5344CB8AC3E}">
        <p14:creationId xmlns:p14="http://schemas.microsoft.com/office/powerpoint/2010/main" val="3586819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DF4B7-EC3D-8B26-DD57-3BC97774A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57E30-8974-D0CD-35AF-A923825A6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lang="en-US" sz="2800" b="1" dirty="0">
                <a:solidFill>
                  <a:prstClr val="black"/>
                </a:solidFill>
                <a:latin typeface="Arial" panose="020B0604020202020204"/>
              </a:rPr>
              <a:t>Accuracy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8806DD-8085-FA9D-23A9-1113C35BBABA}"/>
              </a:ext>
            </a:extLst>
          </p:cNvPr>
          <p:cNvSpPr txBox="1"/>
          <p:nvPr/>
        </p:nvSpPr>
        <p:spPr>
          <a:xfrm>
            <a:off x="838200" y="1597169"/>
            <a:ext cx="415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 – </a:t>
            </a:r>
            <a:r>
              <a:rPr lang="ru-RU" dirty="0"/>
              <a:t>доля правильных ответов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7BCCA800-5C04-A080-97C7-99E04A67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27" y="1974274"/>
            <a:ext cx="4695073" cy="34601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CBAA09-50FE-3EFE-4395-D9C366C729E4}"/>
              </a:ext>
            </a:extLst>
          </p:cNvPr>
          <p:cNvSpPr txBox="1"/>
          <p:nvPr/>
        </p:nvSpPr>
        <p:spPr>
          <a:xfrm>
            <a:off x="924791" y="3190010"/>
            <a:ext cx="4312227" cy="1841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Просто сколько предсказали верно среди всех прогнозов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Accuracy = (TP + TN) / </a:t>
            </a:r>
            <a:r>
              <a:rPr lang="ru-RU" dirty="0"/>
              <a:t>все объекты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10C7B4-78A8-B564-49B4-882712C3490F}"/>
              </a:ext>
            </a:extLst>
          </p:cNvPr>
          <p:cNvSpPr/>
          <p:nvPr/>
        </p:nvSpPr>
        <p:spPr>
          <a:xfrm>
            <a:off x="796636" y="3096492"/>
            <a:ext cx="4606636" cy="21716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64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479D-A2C0-F37A-2545-81833416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53B9AD-54DB-DD1B-8C46-3D2F3400D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lang="en-US" sz="2800" b="1" dirty="0">
                <a:solidFill>
                  <a:prstClr val="black"/>
                </a:solidFill>
                <a:latin typeface="Arial" panose="020B0604020202020204"/>
              </a:rPr>
              <a:t>Accuracy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E1831-E0B4-953D-3D08-5E4E7CAA4343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4BA4CA-BCC1-8C80-9281-BBB592CA5F11}"/>
              </a:ext>
            </a:extLst>
          </p:cNvPr>
          <p:cNvSpPr txBox="1"/>
          <p:nvPr/>
        </p:nvSpPr>
        <p:spPr>
          <a:xfrm>
            <a:off x="7320396" y="2327197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ECD02-CEC7-7421-C722-3600DF253651}"/>
              </a:ext>
            </a:extLst>
          </p:cNvPr>
          <p:cNvSpPr txBox="1"/>
          <p:nvPr/>
        </p:nvSpPr>
        <p:spPr>
          <a:xfrm>
            <a:off x="883226" y="2784764"/>
            <a:ext cx="47382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неточность прогноза 0 и 1 одинаково важна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сбалансированных задач, где классы примерно 50/50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Часто отражает необходимую бизнес-метрику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E59614-0D72-25D9-6474-9226BCAB7A76}"/>
              </a:ext>
            </a:extLst>
          </p:cNvPr>
          <p:cNvSpPr txBox="1"/>
          <p:nvPr/>
        </p:nvSpPr>
        <p:spPr>
          <a:xfrm>
            <a:off x="6096000" y="2784764"/>
            <a:ext cx="47382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дисбалансе классов:</a:t>
            </a:r>
          </a:p>
          <a:p>
            <a:endParaRPr lang="ru-RU" dirty="0"/>
          </a:p>
          <a:p>
            <a:r>
              <a:rPr lang="ru-RU" dirty="0"/>
              <a:t>Пример: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99% клиентов не уйдут в отток.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Если модель всегда говорит «не уйдёт», </a:t>
            </a:r>
            <a:r>
              <a:rPr lang="en" dirty="0"/>
              <a:t>Accuracy = 99%, </a:t>
            </a:r>
            <a:r>
              <a:rPr lang="ru-RU" dirty="0"/>
              <a:t>но модель бесполезна — она никого не спасает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А в маркетинге почти всегда есть дисбаланс</a:t>
            </a:r>
          </a:p>
          <a:p>
            <a:pPr lvl="1"/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учитываем, что неправильный </a:t>
            </a:r>
            <a:r>
              <a:rPr lang="en-US" dirty="0"/>
              <a:t>0 </a:t>
            </a:r>
            <a:r>
              <a:rPr lang="ru-RU" dirty="0"/>
              <a:t>может стоить дороже неправильного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DD1A5-679A-8A1B-EEC3-C2E706B0638B}"/>
              </a:ext>
            </a:extLst>
          </p:cNvPr>
          <p:cNvSpPr txBox="1"/>
          <p:nvPr/>
        </p:nvSpPr>
        <p:spPr>
          <a:xfrm>
            <a:off x="888534" y="1552574"/>
            <a:ext cx="415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Accuracy – </a:t>
            </a:r>
            <a:r>
              <a:rPr lang="ru-RU" dirty="0"/>
              <a:t>доля правильных ответов</a:t>
            </a:r>
          </a:p>
        </p:txBody>
      </p:sp>
    </p:spTree>
    <p:extLst>
      <p:ext uri="{BB962C8B-B14F-4D97-AF65-F5344CB8AC3E}">
        <p14:creationId xmlns:p14="http://schemas.microsoft.com/office/powerpoint/2010/main" val="3885135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5361-2D08-22B6-603B-82770E73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81EA5-57E2-0B2A-B5C8-6A2DDF30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Precision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A951F-3A78-444A-A6E2-54FE41D5CF1C}"/>
              </a:ext>
            </a:extLst>
          </p:cNvPr>
          <p:cNvSpPr txBox="1"/>
          <p:nvPr/>
        </p:nvSpPr>
        <p:spPr>
          <a:xfrm>
            <a:off x="838200" y="1597169"/>
            <a:ext cx="511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Precision — </a:t>
            </a:r>
            <a:r>
              <a:rPr lang="ru-RU" dirty="0"/>
              <a:t>точность (доля «правильных да»)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5F248EF0-2764-2F55-62D1-3ECEFAEE8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27" y="1974274"/>
            <a:ext cx="4695073" cy="34601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68F495-A0BF-689F-BB84-2D59155E0024}"/>
              </a:ext>
            </a:extLst>
          </p:cNvPr>
          <p:cNvSpPr txBox="1"/>
          <p:nvPr/>
        </p:nvSpPr>
        <p:spPr>
          <a:xfrm>
            <a:off x="924791" y="3190010"/>
            <a:ext cx="4312227" cy="1841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Из всех, кому модель сказала «да», сколько действительно “да”</a:t>
            </a:r>
            <a:endParaRPr lang="e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Precision = TP / (TP + FP)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C46CDC-0E7F-228B-BC5F-EDB4F29DC951}"/>
              </a:ext>
            </a:extLst>
          </p:cNvPr>
          <p:cNvSpPr/>
          <p:nvPr/>
        </p:nvSpPr>
        <p:spPr>
          <a:xfrm>
            <a:off x="796636" y="3096492"/>
            <a:ext cx="4606636" cy="21716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60E73571-C6E4-524B-F457-A7F1EC802B6C}"/>
              </a:ext>
            </a:extLst>
          </p:cNvPr>
          <p:cNvSpPr/>
          <p:nvPr/>
        </p:nvSpPr>
        <p:spPr>
          <a:xfrm>
            <a:off x="7084758" y="2743200"/>
            <a:ext cx="4182451" cy="126769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099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4995-DFC6-AC68-079C-BCB9854E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7373E-45A4-E56C-2C78-EA4A6C66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lang="en-US" sz="2800" b="1" dirty="0">
                <a:solidFill>
                  <a:prstClr val="black"/>
                </a:solidFill>
                <a:latin typeface="Arial" panose="020B0604020202020204"/>
              </a:rPr>
              <a:t>Precision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098091-755B-5ECC-9419-460449FBFEF5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913EC-D3FE-A08E-8AD3-7FEA7BE66752}"/>
              </a:ext>
            </a:extLst>
          </p:cNvPr>
          <p:cNvSpPr txBox="1"/>
          <p:nvPr/>
        </p:nvSpPr>
        <p:spPr>
          <a:xfrm>
            <a:off x="7320396" y="2327197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E88DE-D9E5-BE85-D428-1B93926843D5}"/>
              </a:ext>
            </a:extLst>
          </p:cNvPr>
          <p:cNvSpPr txBox="1"/>
          <p:nvPr/>
        </p:nvSpPr>
        <p:spPr>
          <a:xfrm>
            <a:off x="883226" y="2784764"/>
            <a:ext cx="4738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дорого “стрелять по пустым”:</a:t>
            </a:r>
            <a:endParaRPr lang="en-US" dirty="0"/>
          </a:p>
          <a:p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Звонки колл-центра по «горячим» </a:t>
            </a:r>
            <a:r>
              <a:rPr lang="ru-RU" dirty="0" err="1"/>
              <a:t>лидам</a:t>
            </a: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Дорогие персональные предложения (крупная скидка, подарок</a:t>
            </a:r>
            <a:r>
              <a:rPr lang="en-US" dirty="0"/>
              <a:t>, </a:t>
            </a:r>
            <a:r>
              <a:rPr lang="ru-RU" dirty="0"/>
              <a:t>кредит)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2C29E8-36DF-A32A-CF0B-59DBE26E7B96}"/>
              </a:ext>
            </a:extLst>
          </p:cNvPr>
          <p:cNvSpPr txBox="1"/>
          <p:nvPr/>
        </p:nvSpPr>
        <p:spPr>
          <a:xfrm>
            <a:off x="6096000" y="2784764"/>
            <a:ext cx="47382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важно не потерять как можно больше реальных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Хорошей моделью может стать та, которая угадает только самую очевидную 1, а все остальные предскажет 0</a:t>
            </a:r>
          </a:p>
          <a:p>
            <a:r>
              <a:rPr lang="ru-RU" dirty="0"/>
              <a:t>(Эта крайность может достигаться при неправильном подходе к моделированию)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7D002C-77B1-96DA-E821-B3FE90611695}"/>
              </a:ext>
            </a:extLst>
          </p:cNvPr>
          <p:cNvSpPr txBox="1"/>
          <p:nvPr/>
        </p:nvSpPr>
        <p:spPr>
          <a:xfrm>
            <a:off x="888534" y="1552574"/>
            <a:ext cx="511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Precision — </a:t>
            </a:r>
            <a:r>
              <a:rPr lang="ru-RU" dirty="0"/>
              <a:t>точность (доля «правильных да»)</a:t>
            </a:r>
          </a:p>
        </p:txBody>
      </p:sp>
    </p:spTree>
    <p:extLst>
      <p:ext uri="{BB962C8B-B14F-4D97-AF65-F5344CB8AC3E}">
        <p14:creationId xmlns:p14="http://schemas.microsoft.com/office/powerpoint/2010/main" val="28496039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5DFC-FC53-5DB2-0A01-D36B8B07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3BF259-98F2-C9C6-C402-650E2A87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Recall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84B66-5FA0-E800-C9BF-123AFF99A31C}"/>
              </a:ext>
            </a:extLst>
          </p:cNvPr>
          <p:cNvSpPr txBox="1"/>
          <p:nvPr/>
        </p:nvSpPr>
        <p:spPr>
          <a:xfrm>
            <a:off x="838200" y="1597169"/>
            <a:ext cx="4640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Recall — </a:t>
            </a:r>
            <a:r>
              <a:rPr lang="ru-RU" dirty="0"/>
              <a:t>полнота (доля пойманных «да»)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F923415E-6B56-245F-7BCE-191539A81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27" y="1974274"/>
            <a:ext cx="4695073" cy="34601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BE3A13-2E95-89C0-7B68-0C32F47F7F52}"/>
              </a:ext>
            </a:extLst>
          </p:cNvPr>
          <p:cNvSpPr txBox="1"/>
          <p:nvPr/>
        </p:nvSpPr>
        <p:spPr>
          <a:xfrm>
            <a:off x="924791" y="3190010"/>
            <a:ext cx="4312227" cy="1841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Из всех реальных «да» сколько мы поймали?</a:t>
            </a:r>
            <a:endParaRPr lang="e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Recall = TP / (TP + FN)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047D2503-C30C-EF07-EB7A-95875E5505B7}"/>
              </a:ext>
            </a:extLst>
          </p:cNvPr>
          <p:cNvSpPr/>
          <p:nvPr/>
        </p:nvSpPr>
        <p:spPr>
          <a:xfrm>
            <a:off x="796636" y="3096492"/>
            <a:ext cx="4606636" cy="217169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6CD3467-A603-53A4-8660-6A5963623BBA}"/>
              </a:ext>
            </a:extLst>
          </p:cNvPr>
          <p:cNvSpPr/>
          <p:nvPr/>
        </p:nvSpPr>
        <p:spPr>
          <a:xfrm>
            <a:off x="7502235" y="2441864"/>
            <a:ext cx="1828801" cy="299258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269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73B51-BFEC-D1A4-BE42-C44FF5FF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9021DA-BE4B-1C2D-DBED-43B821844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lang="en-US" sz="2800" b="1" dirty="0">
                <a:solidFill>
                  <a:prstClr val="black"/>
                </a:solidFill>
                <a:latin typeface="Arial" panose="020B0604020202020204"/>
              </a:rPr>
              <a:t>Recall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C1162A-79CC-F896-4ED8-D89CD5B267A6}"/>
              </a:ext>
            </a:extLst>
          </p:cNvPr>
          <p:cNvSpPr txBox="1"/>
          <p:nvPr/>
        </p:nvSpPr>
        <p:spPr>
          <a:xfrm>
            <a:off x="2017567" y="2319360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282868-0765-03AB-93BA-E8F89BEA70E1}"/>
              </a:ext>
            </a:extLst>
          </p:cNvPr>
          <p:cNvSpPr txBox="1"/>
          <p:nvPr/>
        </p:nvSpPr>
        <p:spPr>
          <a:xfrm>
            <a:off x="7320396" y="2327197"/>
            <a:ext cx="2289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56568-FDF5-5AAB-A26F-F05E102C5668}"/>
              </a:ext>
            </a:extLst>
          </p:cNvPr>
          <p:cNvSpPr txBox="1"/>
          <p:nvPr/>
        </p:nvSpPr>
        <p:spPr>
          <a:xfrm>
            <a:off x="883226" y="2784764"/>
            <a:ext cx="47382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очень дорого кого-то пропустить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Классический пример из жизни: медицинские модели, предсказывающие наличие болезней у пациента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В бизнесе:</a:t>
            </a:r>
          </a:p>
          <a:p>
            <a:pPr lvl="1"/>
            <a:r>
              <a:rPr lang="ru-RU" dirty="0"/>
              <a:t>	- Потерять уходящего крупного 	клиента</a:t>
            </a:r>
          </a:p>
          <a:p>
            <a:pPr lvl="1"/>
            <a:r>
              <a:rPr lang="ru-RU" dirty="0"/>
              <a:t>	- Не заметить </a:t>
            </a:r>
            <a:r>
              <a:rPr lang="ru-RU" dirty="0" err="1"/>
              <a:t>фрод</a:t>
            </a:r>
            <a:endParaRPr lang="ru-RU" dirty="0"/>
          </a:p>
          <a:p>
            <a:pPr lvl="1"/>
            <a:r>
              <a:rPr lang="ru-RU" dirty="0"/>
              <a:t>	- Проигнорировать ценного </a:t>
            </a:r>
            <a:r>
              <a:rPr lang="ru-RU" dirty="0" err="1"/>
              <a:t>лида</a:t>
            </a:r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E6A88D-02A6-8C4E-710A-C9EC24087996}"/>
              </a:ext>
            </a:extLst>
          </p:cNvPr>
          <p:cNvSpPr txBox="1"/>
          <p:nvPr/>
        </p:nvSpPr>
        <p:spPr>
          <a:xfrm>
            <a:off x="6096000" y="2784764"/>
            <a:ext cx="49599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Кейсы, когда нужен </a:t>
            </a:r>
            <a:r>
              <a:rPr lang="en-US" dirty="0"/>
              <a:t>Precision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Хорошей моделью может стать та, которая константно прогнозирует всем </a:t>
            </a:r>
            <a:r>
              <a:rPr lang="en-US" dirty="0"/>
              <a:t>1</a:t>
            </a:r>
            <a:endParaRPr lang="ru-RU" dirty="0"/>
          </a:p>
          <a:p>
            <a:r>
              <a:rPr lang="ru-RU" dirty="0"/>
              <a:t>(Эта крайность может достигаться при неправильном подходе к моделированию)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195EBE-97D9-56E5-3FAD-8BEE95818F8D}"/>
              </a:ext>
            </a:extLst>
          </p:cNvPr>
          <p:cNvSpPr txBox="1"/>
          <p:nvPr/>
        </p:nvSpPr>
        <p:spPr>
          <a:xfrm>
            <a:off x="888534" y="1552574"/>
            <a:ext cx="4640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Recall — </a:t>
            </a:r>
            <a:r>
              <a:rPr lang="ru-RU" dirty="0"/>
              <a:t>полнота (доля пойманных «да»)</a:t>
            </a:r>
          </a:p>
        </p:txBody>
      </p:sp>
    </p:spTree>
    <p:extLst>
      <p:ext uri="{BB962C8B-B14F-4D97-AF65-F5344CB8AC3E}">
        <p14:creationId xmlns:p14="http://schemas.microsoft.com/office/powerpoint/2010/main" val="2277727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31989-CF7E-DEF2-A765-0DFCBD0AD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07E82-0D78-4EDA-B038-1A9EE777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lang="en-US" sz="2800" b="1" dirty="0">
                <a:solidFill>
                  <a:prstClr val="black"/>
                </a:solidFill>
                <a:latin typeface="Arial" panose="020B0604020202020204"/>
              </a:rPr>
              <a:t>F1-score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5F4C7B-A47C-4C85-B47C-EAB8C6AF2EED}"/>
              </a:ext>
            </a:extLst>
          </p:cNvPr>
          <p:cNvSpPr txBox="1"/>
          <p:nvPr/>
        </p:nvSpPr>
        <p:spPr>
          <a:xfrm>
            <a:off x="7874576" y="2266074"/>
            <a:ext cx="1901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40BF91-204A-8764-C4A2-A48DA0CBE7F9}"/>
              </a:ext>
            </a:extLst>
          </p:cNvPr>
          <p:cNvSpPr txBox="1"/>
          <p:nvPr/>
        </p:nvSpPr>
        <p:spPr>
          <a:xfrm>
            <a:off x="6456217" y="2826327"/>
            <a:ext cx="47382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важен компромисс</a:t>
            </a:r>
            <a:r>
              <a:rPr lang="en-US" dirty="0"/>
              <a:t> </a:t>
            </a:r>
            <a:r>
              <a:rPr lang="ru-RU" dirty="0"/>
              <a:t>между </a:t>
            </a:r>
            <a:r>
              <a:rPr lang="en-US" dirty="0"/>
              <a:t>precision </a:t>
            </a:r>
            <a:r>
              <a:rPr lang="ru-RU" dirty="0"/>
              <a:t>и </a:t>
            </a:r>
            <a:r>
              <a:rPr lang="en-US" dirty="0"/>
              <a:t>recall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Сравнение моделей между собой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99925-D35D-C663-ECEF-B4DFE54585BC}"/>
              </a:ext>
            </a:extLst>
          </p:cNvPr>
          <p:cNvSpPr txBox="1"/>
          <p:nvPr/>
        </p:nvSpPr>
        <p:spPr>
          <a:xfrm>
            <a:off x="888534" y="1552574"/>
            <a:ext cx="4125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F1-score — </a:t>
            </a:r>
            <a:r>
              <a:rPr lang="ru-RU" dirty="0"/>
              <a:t>баланс </a:t>
            </a:r>
            <a:r>
              <a:rPr lang="en" dirty="0"/>
              <a:t>Precision </a:t>
            </a:r>
            <a:r>
              <a:rPr lang="ru-RU" dirty="0"/>
              <a:t>и </a:t>
            </a:r>
            <a:r>
              <a:rPr lang="en" dirty="0"/>
              <a:t>Recall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2E456-E736-3AD3-62CA-7D1165383C64}"/>
              </a:ext>
            </a:extLst>
          </p:cNvPr>
          <p:cNvSpPr txBox="1"/>
          <p:nvPr/>
        </p:nvSpPr>
        <p:spPr>
          <a:xfrm>
            <a:off x="945573" y="3086100"/>
            <a:ext cx="5060372" cy="225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F1 — </a:t>
            </a:r>
            <a:r>
              <a:rPr lang="ru-RU" dirty="0"/>
              <a:t>гармоническое среднее </a:t>
            </a:r>
            <a:r>
              <a:rPr lang="en" dirty="0"/>
              <a:t>Precision </a:t>
            </a:r>
            <a:r>
              <a:rPr lang="ru-RU" dirty="0"/>
              <a:t>и </a:t>
            </a:r>
            <a:r>
              <a:rPr lang="en" dirty="0"/>
              <a:t>Recall.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Высокий </a:t>
            </a:r>
            <a:r>
              <a:rPr lang="en" dirty="0"/>
              <a:t>F1 = </a:t>
            </a:r>
            <a:r>
              <a:rPr lang="ru-RU" dirty="0"/>
              <a:t>и </a:t>
            </a:r>
            <a:r>
              <a:rPr lang="en" dirty="0"/>
              <a:t>Precision, </a:t>
            </a:r>
            <a:r>
              <a:rPr lang="ru-RU" dirty="0"/>
              <a:t>и </a:t>
            </a:r>
            <a:r>
              <a:rPr lang="en" dirty="0"/>
              <a:t>Recall </a:t>
            </a:r>
            <a:r>
              <a:rPr lang="ru-RU" dirty="0"/>
              <a:t>приемлемые, без сильного перекоса.</a:t>
            </a:r>
            <a:endParaRPr lang="en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6F4215DE-50AE-A0B0-01D0-6EB80873071E}"/>
              </a:ext>
            </a:extLst>
          </p:cNvPr>
          <p:cNvSpPr/>
          <p:nvPr/>
        </p:nvSpPr>
        <p:spPr>
          <a:xfrm>
            <a:off x="817418" y="2992582"/>
            <a:ext cx="5278582" cy="247303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790CFF-426D-18DD-0AFB-BAD7905C6E7D}"/>
              </a:ext>
            </a:extLst>
          </p:cNvPr>
          <p:cNvSpPr txBox="1"/>
          <p:nvPr/>
        </p:nvSpPr>
        <p:spPr>
          <a:xfrm>
            <a:off x="7881502" y="4112193"/>
            <a:ext cx="20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77747F-6504-D6EB-7393-3E09E08A75DC}"/>
              </a:ext>
            </a:extLst>
          </p:cNvPr>
          <p:cNvSpPr txBox="1"/>
          <p:nvPr/>
        </p:nvSpPr>
        <p:spPr>
          <a:xfrm>
            <a:off x="6463143" y="4610100"/>
            <a:ext cx="4738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Непонятно как интерпретировать результат и связать с бизнес-метрикой</a:t>
            </a:r>
          </a:p>
        </p:txBody>
      </p:sp>
    </p:spTree>
    <p:extLst>
      <p:ext uri="{BB962C8B-B14F-4D97-AF65-F5344CB8AC3E}">
        <p14:creationId xmlns:p14="http://schemas.microsoft.com/office/powerpoint/2010/main" val="742057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E05DF-0D34-60BD-FA73-628E3908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1B4DF-EF89-E8F8-DD13-2EC58F48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ROC-AUC</a:t>
            </a:r>
            <a:endParaRPr lang="ru-RU" sz="3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E7C751-85BD-034E-C8E9-867CC66955EF}"/>
              </a:ext>
            </a:extLst>
          </p:cNvPr>
          <p:cNvSpPr txBox="1"/>
          <p:nvPr/>
        </p:nvSpPr>
        <p:spPr>
          <a:xfrm>
            <a:off x="888534" y="1552574"/>
            <a:ext cx="441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ROC-AUC — </a:t>
            </a:r>
            <a:r>
              <a:rPr lang="ru-RU" dirty="0"/>
              <a:t>площадь под </a:t>
            </a:r>
            <a:r>
              <a:rPr lang="en" dirty="0"/>
              <a:t>ROC-</a:t>
            </a:r>
            <a:r>
              <a:rPr lang="ru-RU" dirty="0"/>
              <a:t>кривой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5FBD8F-CEAB-8501-5A94-9595E9E43664}"/>
              </a:ext>
            </a:extLst>
          </p:cNvPr>
          <p:cNvSpPr txBox="1"/>
          <p:nvPr/>
        </p:nvSpPr>
        <p:spPr>
          <a:xfrm>
            <a:off x="581888" y="2701638"/>
            <a:ext cx="5673436" cy="3087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/>
              <a:t>	Интуиция:</a:t>
            </a:r>
            <a:endParaRPr lang="en-US" i="1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ROC-</a:t>
            </a:r>
            <a:r>
              <a:rPr lang="ru-RU" dirty="0"/>
              <a:t>кривая показывает, как меняются </a:t>
            </a:r>
            <a:r>
              <a:rPr lang="en" dirty="0"/>
              <a:t>TPR (Recall) </a:t>
            </a:r>
            <a:r>
              <a:rPr lang="ru-RU" dirty="0"/>
              <a:t>и </a:t>
            </a:r>
            <a:r>
              <a:rPr lang="en" dirty="0"/>
              <a:t>FPR (</a:t>
            </a:r>
            <a:r>
              <a:rPr lang="en-US" dirty="0"/>
              <a:t>FP / (FP + TN)</a:t>
            </a:r>
            <a:r>
              <a:rPr lang="ru-RU" dirty="0"/>
              <a:t>) при разных порогах</a:t>
            </a:r>
            <a:r>
              <a:rPr lang="en-US" dirty="0"/>
              <a:t> </a:t>
            </a:r>
            <a:r>
              <a:rPr lang="ru-RU" dirty="0"/>
              <a:t>отсечения вероятности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dirty="0"/>
              <a:t>AUC — </a:t>
            </a:r>
            <a:r>
              <a:rPr lang="ru-RU" dirty="0"/>
              <a:t>площадь под этой кривой от 0 до 1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/>
              <a:t>Отражает, насколько хорошо модель умеет сортировать 0 и 1 между собой</a:t>
            </a:r>
            <a:endParaRPr lang="en" dirty="0"/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BB224AD-8D8F-0CC2-2BB4-11F2FB9670B2}"/>
              </a:ext>
            </a:extLst>
          </p:cNvPr>
          <p:cNvSpPr/>
          <p:nvPr/>
        </p:nvSpPr>
        <p:spPr>
          <a:xfrm>
            <a:off x="453732" y="2608120"/>
            <a:ext cx="5978237" cy="34289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2AD0B2FE-0488-F20B-01F7-31A62C84F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8830" y="1623944"/>
            <a:ext cx="2709463" cy="2473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1AA05209-658E-4B2A-CC7B-9C5D15AB5E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41" r="5611"/>
          <a:stretch/>
        </p:blipFill>
        <p:spPr bwMode="auto">
          <a:xfrm>
            <a:off x="7065944" y="4343664"/>
            <a:ext cx="4195234" cy="224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996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238D0-8E1B-817A-602E-8718FCF6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2E12D9-9912-0F0C-A70D-F205B60BE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ROC-AUC</a:t>
            </a:r>
            <a:endParaRPr lang="ru-RU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AE8B2-5FF0-14E8-C970-E848B830783D}"/>
              </a:ext>
            </a:extLst>
          </p:cNvPr>
          <p:cNvSpPr txBox="1"/>
          <p:nvPr/>
        </p:nvSpPr>
        <p:spPr>
          <a:xfrm>
            <a:off x="2048740" y="2038803"/>
            <a:ext cx="2852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хорошо: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57F8B-C4DA-2B3C-7540-7D1B3EB1EB3D}"/>
              </a:ext>
            </a:extLst>
          </p:cNvPr>
          <p:cNvSpPr txBox="1"/>
          <p:nvPr/>
        </p:nvSpPr>
        <p:spPr>
          <a:xfrm>
            <a:off x="914398" y="2462643"/>
            <a:ext cx="106299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Когда важно качество ранжирования клиентов:</a:t>
            </a:r>
          </a:p>
          <a:p>
            <a:endParaRPr lang="ru-RU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dirty="0"/>
              <a:t>Мы всё равно будем выбирать топ-</a:t>
            </a:r>
            <a:r>
              <a:rPr lang="en" dirty="0"/>
              <a:t>N </a:t>
            </a:r>
            <a:r>
              <a:rPr lang="ru-RU" dirty="0"/>
              <a:t>клиентов по </a:t>
            </a:r>
            <a:r>
              <a:rPr lang="ru-RU" dirty="0" err="1"/>
              <a:t>скору</a:t>
            </a:r>
            <a:endParaRPr lang="ru-RU" dirty="0"/>
          </a:p>
          <a:p>
            <a:pPr lvl="1"/>
            <a:r>
              <a:rPr lang="ru-RU" dirty="0"/>
              <a:t>(нам не важна конкретная вероятность, мы хотим понять, насколько модель действительно толкает наблюдения с </a:t>
            </a:r>
            <a:r>
              <a:rPr lang="ru-RU" dirty="0" err="1"/>
              <a:t>таргет</a:t>
            </a:r>
            <a:r>
              <a:rPr lang="ru-RU" dirty="0"/>
              <a:t>=1 наверх в ранжировании)</a:t>
            </a:r>
          </a:p>
          <a:p>
            <a:pPr lvl="1"/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зависит от конкретного порога: хорош как общая метрика для сравнения моделей.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Дисбаланс классов не так сильно влияет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18E54-4247-C44D-D208-624799A18B03}"/>
              </a:ext>
            </a:extLst>
          </p:cNvPr>
          <p:cNvSpPr txBox="1"/>
          <p:nvPr/>
        </p:nvSpPr>
        <p:spPr>
          <a:xfrm>
            <a:off x="888534" y="1552574"/>
            <a:ext cx="4419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dirty="0"/>
              <a:t>ROC-AUC — </a:t>
            </a:r>
            <a:r>
              <a:rPr lang="ru-RU" dirty="0"/>
              <a:t>площадь под </a:t>
            </a:r>
            <a:r>
              <a:rPr lang="en" dirty="0"/>
              <a:t>ROC-</a:t>
            </a:r>
            <a:r>
              <a:rPr lang="ru-RU" dirty="0"/>
              <a:t>кривой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5034-2962-3891-3CA1-6173CB99CDAC}"/>
              </a:ext>
            </a:extLst>
          </p:cNvPr>
          <p:cNvSpPr txBox="1"/>
          <p:nvPr/>
        </p:nvSpPr>
        <p:spPr>
          <a:xfrm>
            <a:off x="2048740" y="5235017"/>
            <a:ext cx="2041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Когда не очень: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1D13D4-C2E5-D623-C490-9BE554ED88FF}"/>
              </a:ext>
            </a:extLst>
          </p:cNvPr>
          <p:cNvSpPr txBox="1"/>
          <p:nvPr/>
        </p:nvSpPr>
        <p:spPr>
          <a:xfrm>
            <a:off x="914399" y="5680518"/>
            <a:ext cx="4738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Непонятно как интерпретировать результат и связать с бизнес-метрикой</a:t>
            </a:r>
          </a:p>
        </p:txBody>
      </p:sp>
    </p:spTree>
    <p:extLst>
      <p:ext uri="{BB962C8B-B14F-4D97-AF65-F5344CB8AC3E}">
        <p14:creationId xmlns:p14="http://schemas.microsoft.com/office/powerpoint/2010/main" val="3259586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22C66-49AE-035C-04D5-BE2669CE2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8D7CF-A3F3-AF63-E8A1-C2718DC9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7E22C4E-A06F-E7FF-5011-920A1DA68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422851"/>
              </p:ext>
            </p:extLst>
          </p:nvPr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9BAFCD-1857-4FF3-DB08-3776F5999563}"/>
              </a:ext>
            </a:extLst>
          </p:cNvPr>
          <p:cNvSpPr txBox="1"/>
          <p:nvPr/>
        </p:nvSpPr>
        <p:spPr>
          <a:xfrm>
            <a:off x="838200" y="1412503"/>
            <a:ext cx="849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Задача: </a:t>
            </a:r>
            <a:r>
              <a:rPr lang="ru-RU" dirty="0"/>
              <a:t>модель прогнозирует вероятность отклика на маркетинговый </a:t>
            </a:r>
            <a:r>
              <a:rPr lang="ru-RU" dirty="0" err="1"/>
              <a:t>оффер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382E8-4D15-CB49-A89B-2A108DF0AC1F}"/>
              </a:ext>
            </a:extLst>
          </p:cNvPr>
          <p:cNvSpPr txBox="1"/>
          <p:nvPr/>
        </p:nvSpPr>
        <p:spPr>
          <a:xfrm>
            <a:off x="5697683" y="2276401"/>
            <a:ext cx="5046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Цель: </a:t>
            </a:r>
            <a:r>
              <a:rPr lang="ru-RU" dirty="0"/>
              <a:t>выбрать, кому отправить платный </a:t>
            </a:r>
            <a:r>
              <a:rPr lang="ru-RU" dirty="0" err="1"/>
              <a:t>оффер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Таргет: </a:t>
            </a:r>
            <a:r>
              <a:rPr lang="ru-RU" dirty="0"/>
              <a:t>откликнется ли клиент (да = 1)</a:t>
            </a:r>
          </a:p>
        </p:txBody>
      </p:sp>
    </p:spTree>
    <p:extLst>
      <p:ext uri="{BB962C8B-B14F-4D97-AF65-F5344CB8AC3E}">
        <p14:creationId xmlns:p14="http://schemas.microsoft.com/office/powerpoint/2010/main" val="3380706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9EEB-C50B-ED09-E0E2-2AB73178C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588795-EC35-6E0F-6199-7E86073E4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CF69D0E-DFA1-A111-4094-C4FF15932A3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8B20EA4-B64A-3237-75B5-96B02EFD8E0E}"/>
              </a:ext>
            </a:extLst>
          </p:cNvPr>
          <p:cNvSpPr txBox="1"/>
          <p:nvPr/>
        </p:nvSpPr>
        <p:spPr>
          <a:xfrm>
            <a:off x="838200" y="1412503"/>
            <a:ext cx="383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Порог 0.5: </a:t>
            </a:r>
            <a:r>
              <a:rPr lang="ru-RU" dirty="0"/>
              <a:t>агрессивная стратегия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0DE50-3654-AC22-8266-3016E1E0D8B4}"/>
              </a:ext>
            </a:extLst>
          </p:cNvPr>
          <p:cNvSpPr txBox="1"/>
          <p:nvPr/>
        </p:nvSpPr>
        <p:spPr>
          <a:xfrm>
            <a:off x="6096000" y="1781835"/>
            <a:ext cx="5046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Кто получит </a:t>
            </a:r>
            <a:r>
              <a:rPr lang="ru-RU" b="1" dirty="0" err="1"/>
              <a:t>оффер</a:t>
            </a:r>
            <a:r>
              <a:rPr lang="ru-RU" b="1" dirty="0"/>
              <a:t>:</a:t>
            </a:r>
          </a:p>
          <a:p>
            <a:endParaRPr lang="ru-RU" b="1" dirty="0"/>
          </a:p>
          <a:p>
            <a:r>
              <a:rPr lang="ru-RU" dirty="0"/>
              <a:t>Вероятность больше чем 0.5 у клиентов </a:t>
            </a:r>
            <a:r>
              <a:rPr lang="en-US" dirty="0"/>
              <a:t>A, B, C, D, E, F, G =&gt; </a:t>
            </a:r>
            <a:r>
              <a:rPr lang="ru-RU" dirty="0"/>
              <a:t>им предсказываем 1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A57F1C33-4EBB-75DF-70AF-C7C7089EF9C3}"/>
              </a:ext>
            </a:extLst>
          </p:cNvPr>
          <p:cNvSpPr/>
          <p:nvPr/>
        </p:nvSpPr>
        <p:spPr>
          <a:xfrm>
            <a:off x="706581" y="2639291"/>
            <a:ext cx="4592783" cy="263929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D2DA5AA1-730E-C5FB-B59A-65988064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67" y="3201609"/>
            <a:ext cx="4592783" cy="338478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C63759E-A539-5F94-AB84-8CC8934A8D84}"/>
              </a:ext>
            </a:extLst>
          </p:cNvPr>
          <p:cNvSpPr/>
          <p:nvPr/>
        </p:nvSpPr>
        <p:spPr>
          <a:xfrm>
            <a:off x="7233313" y="4192769"/>
            <a:ext cx="1172245" cy="701232"/>
          </a:xfrm>
          <a:prstGeom prst="rect">
            <a:avLst/>
          </a:prstGeom>
          <a:solidFill>
            <a:srgbClr val="A9D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75C7EB-9840-522D-B6D0-B34D758878BE}"/>
              </a:ext>
            </a:extLst>
          </p:cNvPr>
          <p:cNvSpPr/>
          <p:nvPr/>
        </p:nvSpPr>
        <p:spPr>
          <a:xfrm>
            <a:off x="8955206" y="5409694"/>
            <a:ext cx="1172245" cy="701232"/>
          </a:xfrm>
          <a:prstGeom prst="rect">
            <a:avLst/>
          </a:prstGeom>
          <a:solidFill>
            <a:srgbClr val="A9D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34FA6A3-6521-9049-9572-CE693A939BF7}"/>
              </a:ext>
            </a:extLst>
          </p:cNvPr>
          <p:cNvSpPr/>
          <p:nvPr/>
        </p:nvSpPr>
        <p:spPr>
          <a:xfrm>
            <a:off x="7233313" y="5409694"/>
            <a:ext cx="1172245" cy="701232"/>
          </a:xfrm>
          <a:prstGeom prst="rect">
            <a:avLst/>
          </a:prstGeom>
          <a:solidFill>
            <a:srgbClr val="FB8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DE62A46-D33F-F5A8-0C4E-EEB70BC3FE52}"/>
              </a:ext>
            </a:extLst>
          </p:cNvPr>
          <p:cNvSpPr/>
          <p:nvPr/>
        </p:nvSpPr>
        <p:spPr>
          <a:xfrm>
            <a:off x="8996469" y="4192769"/>
            <a:ext cx="1172245" cy="701232"/>
          </a:xfrm>
          <a:prstGeom prst="rect">
            <a:avLst/>
          </a:prstGeom>
          <a:solidFill>
            <a:srgbClr val="FB8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535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78C5B-686C-C124-01F8-01EC72D27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3A10F-5D5F-66A9-77EF-C517D2B4A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0B10EE0-F3E2-BFB4-E503-A2499333771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E94171-0185-9D79-444F-4F9B8124B68B}"/>
              </a:ext>
            </a:extLst>
          </p:cNvPr>
          <p:cNvSpPr txBox="1"/>
          <p:nvPr/>
        </p:nvSpPr>
        <p:spPr>
          <a:xfrm>
            <a:off x="838200" y="1412503"/>
            <a:ext cx="383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Порог 0.5: </a:t>
            </a:r>
            <a:r>
              <a:rPr lang="ru-RU" dirty="0"/>
              <a:t>агрессивная стратегия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DAE0E-A2DA-D4D2-46FC-27867F96AFA0}"/>
              </a:ext>
            </a:extLst>
          </p:cNvPr>
          <p:cNvSpPr txBox="1"/>
          <p:nvPr/>
        </p:nvSpPr>
        <p:spPr>
          <a:xfrm>
            <a:off x="6096000" y="1781835"/>
            <a:ext cx="5046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Кто получит </a:t>
            </a:r>
            <a:r>
              <a:rPr lang="ru-RU" b="1" dirty="0" err="1"/>
              <a:t>оффер</a:t>
            </a:r>
            <a:r>
              <a:rPr lang="ru-RU" b="1" dirty="0"/>
              <a:t>:</a:t>
            </a:r>
          </a:p>
          <a:p>
            <a:endParaRPr lang="ru-RU" b="1" dirty="0"/>
          </a:p>
          <a:p>
            <a:r>
              <a:rPr lang="ru-RU" dirty="0"/>
              <a:t>Вероятность больше чем 0.5 у клиентов </a:t>
            </a:r>
            <a:r>
              <a:rPr lang="en-US" dirty="0"/>
              <a:t>A, B, C, D, E, F, G =&gt; </a:t>
            </a:r>
            <a:r>
              <a:rPr lang="ru-RU" dirty="0"/>
              <a:t>им предсказываем 1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BBEB0452-44DD-3B13-62B1-F2FBE8C397E7}"/>
              </a:ext>
            </a:extLst>
          </p:cNvPr>
          <p:cNvSpPr/>
          <p:nvPr/>
        </p:nvSpPr>
        <p:spPr>
          <a:xfrm>
            <a:off x="706581" y="2639291"/>
            <a:ext cx="4592783" cy="263929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F5B5F311-7ABD-1069-5157-C657CBCE5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67" y="3201609"/>
            <a:ext cx="4592783" cy="338478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D0416A-81A2-6EC5-043D-4CE211150961}"/>
              </a:ext>
            </a:extLst>
          </p:cNvPr>
          <p:cNvSpPr/>
          <p:nvPr/>
        </p:nvSpPr>
        <p:spPr>
          <a:xfrm>
            <a:off x="7233313" y="4192769"/>
            <a:ext cx="1172245" cy="701232"/>
          </a:xfrm>
          <a:prstGeom prst="rect">
            <a:avLst/>
          </a:prstGeom>
          <a:solidFill>
            <a:srgbClr val="A9D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1ECCE76-7929-6620-8E25-BFD8F7DCF45E}"/>
              </a:ext>
            </a:extLst>
          </p:cNvPr>
          <p:cNvSpPr/>
          <p:nvPr/>
        </p:nvSpPr>
        <p:spPr>
          <a:xfrm>
            <a:off x="8955206" y="5409694"/>
            <a:ext cx="1172245" cy="701232"/>
          </a:xfrm>
          <a:prstGeom prst="rect">
            <a:avLst/>
          </a:prstGeom>
          <a:solidFill>
            <a:srgbClr val="A9D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48DF0C-5568-25E4-B1A9-7CEEAAA17227}"/>
              </a:ext>
            </a:extLst>
          </p:cNvPr>
          <p:cNvSpPr/>
          <p:nvPr/>
        </p:nvSpPr>
        <p:spPr>
          <a:xfrm>
            <a:off x="7233313" y="5409694"/>
            <a:ext cx="1172245" cy="701232"/>
          </a:xfrm>
          <a:prstGeom prst="rect">
            <a:avLst/>
          </a:prstGeom>
          <a:solidFill>
            <a:srgbClr val="FB8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B2E073-EE43-EDC5-7E00-891E6F435C79}"/>
              </a:ext>
            </a:extLst>
          </p:cNvPr>
          <p:cNvSpPr/>
          <p:nvPr/>
        </p:nvSpPr>
        <p:spPr>
          <a:xfrm>
            <a:off x="8996469" y="4192769"/>
            <a:ext cx="1172245" cy="701232"/>
          </a:xfrm>
          <a:prstGeom prst="rect">
            <a:avLst/>
          </a:prstGeom>
          <a:solidFill>
            <a:srgbClr val="FB8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38829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93AE4-5866-D272-EE8A-653A3838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4A11C8-F12F-3937-3631-AB34115B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8A4F581-7063-63C6-A5B9-8734FB2D2F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F44A761-F23F-8118-BF73-9D8604E81167}"/>
              </a:ext>
            </a:extLst>
          </p:cNvPr>
          <p:cNvSpPr txBox="1"/>
          <p:nvPr/>
        </p:nvSpPr>
        <p:spPr>
          <a:xfrm>
            <a:off x="838200" y="1412503"/>
            <a:ext cx="383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Порог 0.5: </a:t>
            </a:r>
            <a:r>
              <a:rPr lang="ru-RU" dirty="0"/>
              <a:t>агрессивная стратегия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5F86E62-8414-BC2A-D3B8-8B3455092391}"/>
              </a:ext>
            </a:extLst>
          </p:cNvPr>
          <p:cNvSpPr/>
          <p:nvPr/>
        </p:nvSpPr>
        <p:spPr>
          <a:xfrm>
            <a:off x="706581" y="2639291"/>
            <a:ext cx="4592783" cy="263929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5AF0DB-98E8-1B59-459D-91E5CF94B4AE}"/>
                  </a:ext>
                </a:extLst>
              </p:cNvPr>
              <p:cNvSpPr txBox="1"/>
              <p:nvPr/>
            </p:nvSpPr>
            <p:spPr>
              <a:xfrm>
                <a:off x="5713712" y="3167005"/>
                <a:ext cx="3772699" cy="523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4+3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=0.57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5AF0DB-98E8-1B59-459D-91E5CF94B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712" y="3167005"/>
                <a:ext cx="3772699" cy="523990"/>
              </a:xfrm>
              <a:prstGeom prst="rect">
                <a:avLst/>
              </a:prstGeom>
              <a:blipFill>
                <a:blip r:embed="rId2"/>
                <a:stretch>
                  <a:fillRect l="-671" t="-2381" r="-1007" b="-1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2E9DCF-0305-18E5-E58F-765AB304D579}"/>
                  </a:ext>
                </a:extLst>
              </p:cNvPr>
              <p:cNvSpPr txBox="1"/>
              <p:nvPr/>
            </p:nvSpPr>
            <p:spPr>
              <a:xfrm>
                <a:off x="5714954" y="4192769"/>
                <a:ext cx="3458639" cy="5239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C2E9DCF-0305-18E5-E58F-765AB304D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54" y="4192769"/>
                <a:ext cx="3458639" cy="523990"/>
              </a:xfrm>
              <a:prstGeom prst="rect">
                <a:avLst/>
              </a:prstGeom>
              <a:blipFill>
                <a:blip r:embed="rId3"/>
                <a:stretch>
                  <a:fillRect l="-1095" t="-2381" r="-730" b="-1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091CCF-D5D7-E1EF-A167-5499C546C1F5}"/>
                  </a:ext>
                </a:extLst>
              </p:cNvPr>
              <p:cNvSpPr txBox="1"/>
              <p:nvPr/>
            </p:nvSpPr>
            <p:spPr>
              <a:xfrm>
                <a:off x="5713712" y="2141241"/>
                <a:ext cx="5723105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4+2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4+2+3+1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E091CCF-D5D7-E1EF-A167-5499C546C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712" y="2141241"/>
                <a:ext cx="5723105" cy="525016"/>
              </a:xfrm>
              <a:prstGeom prst="rect">
                <a:avLst/>
              </a:prstGeom>
              <a:blipFill>
                <a:blip r:embed="rId4"/>
                <a:stretch>
                  <a:fillRect l="-885" t="-4762" r="-442"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B4B6FF-CA35-C6A0-96F2-B2F858340F52}"/>
                  </a:ext>
                </a:extLst>
              </p:cNvPr>
              <p:cNvSpPr txBox="1"/>
              <p:nvPr/>
            </p:nvSpPr>
            <p:spPr>
              <a:xfrm>
                <a:off x="5714954" y="5218533"/>
                <a:ext cx="5160131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2∗0.57∗0.8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0.57+0.8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=0.67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B4B6FF-CA35-C6A0-96F2-B2F858340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54" y="5218533"/>
                <a:ext cx="5160131" cy="530594"/>
              </a:xfrm>
              <a:prstGeom prst="rect">
                <a:avLst/>
              </a:prstGeom>
              <a:blipFill>
                <a:blip r:embed="rId5"/>
                <a:stretch>
                  <a:fillRect l="-245" t="-2326" r="-490" b="-13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038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E4BF0-BD33-7852-30FD-541F031B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CEA9F-A7EA-216D-B552-31C339C9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FAA3A93-04BA-A4E8-DA56-F722FDD585C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6775E35-17D3-5680-848E-A136418799CA}"/>
              </a:ext>
            </a:extLst>
          </p:cNvPr>
          <p:cNvSpPr txBox="1"/>
          <p:nvPr/>
        </p:nvSpPr>
        <p:spPr>
          <a:xfrm>
            <a:off x="838200" y="1412503"/>
            <a:ext cx="3866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Порог 0.</a:t>
            </a:r>
            <a:r>
              <a:rPr lang="en-US" b="1" dirty="0"/>
              <a:t>8</a:t>
            </a:r>
            <a:r>
              <a:rPr lang="ru-RU" b="1" dirty="0"/>
              <a:t>: </a:t>
            </a:r>
            <a:r>
              <a:rPr lang="ru-RU" dirty="0"/>
              <a:t>осторожная стратегия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A6655F-C626-9568-3F8B-4CAE2076FA45}"/>
              </a:ext>
            </a:extLst>
          </p:cNvPr>
          <p:cNvSpPr txBox="1"/>
          <p:nvPr/>
        </p:nvSpPr>
        <p:spPr>
          <a:xfrm>
            <a:off x="6096000" y="1781835"/>
            <a:ext cx="5046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Кто получит </a:t>
            </a:r>
            <a:r>
              <a:rPr lang="ru-RU" b="1" dirty="0" err="1"/>
              <a:t>оффер</a:t>
            </a:r>
            <a:r>
              <a:rPr lang="ru-RU" b="1" dirty="0"/>
              <a:t>:</a:t>
            </a:r>
          </a:p>
          <a:p>
            <a:endParaRPr lang="ru-RU" b="1" dirty="0"/>
          </a:p>
          <a:p>
            <a:r>
              <a:rPr lang="ru-RU" dirty="0"/>
              <a:t>Вероятность больше чем 0.5 у клиентов </a:t>
            </a:r>
            <a:r>
              <a:rPr lang="en-US" dirty="0"/>
              <a:t>A, B, C, D</a:t>
            </a:r>
            <a:r>
              <a:rPr lang="ru-RU" dirty="0"/>
              <a:t> </a:t>
            </a:r>
            <a:r>
              <a:rPr lang="en-US" dirty="0"/>
              <a:t>=&gt; </a:t>
            </a:r>
            <a:r>
              <a:rPr lang="ru-RU" dirty="0"/>
              <a:t>им предсказываем 1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CB5729E6-4717-8064-3FDB-60581062E846}"/>
              </a:ext>
            </a:extLst>
          </p:cNvPr>
          <p:cNvSpPr/>
          <p:nvPr/>
        </p:nvSpPr>
        <p:spPr>
          <a:xfrm>
            <a:off x="706581" y="2639292"/>
            <a:ext cx="4592783" cy="15534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 descr="Изображение выглядит как текст, снимок экрана, Шрифт, число&#10;&#10;Автоматически созданное описание">
            <a:extLst>
              <a:ext uri="{FF2B5EF4-FFF2-40B4-BE49-F238E27FC236}">
                <a16:creationId xmlns:a16="http://schemas.microsoft.com/office/drawing/2014/main" id="{0C8BFD79-2415-0918-14D4-13A8ED8C2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67" y="3201609"/>
            <a:ext cx="4592783" cy="3384785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AA5A73-BA6B-3867-7C24-23AA44DC53B5}"/>
              </a:ext>
            </a:extLst>
          </p:cNvPr>
          <p:cNvSpPr/>
          <p:nvPr/>
        </p:nvSpPr>
        <p:spPr>
          <a:xfrm>
            <a:off x="7233313" y="4192769"/>
            <a:ext cx="1172245" cy="701232"/>
          </a:xfrm>
          <a:prstGeom prst="rect">
            <a:avLst/>
          </a:prstGeom>
          <a:solidFill>
            <a:srgbClr val="A9D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8EDCA56-223E-D027-5E48-FCFAF2E77DEC}"/>
              </a:ext>
            </a:extLst>
          </p:cNvPr>
          <p:cNvSpPr/>
          <p:nvPr/>
        </p:nvSpPr>
        <p:spPr>
          <a:xfrm>
            <a:off x="8955206" y="5409694"/>
            <a:ext cx="1172245" cy="701232"/>
          </a:xfrm>
          <a:prstGeom prst="rect">
            <a:avLst/>
          </a:prstGeom>
          <a:solidFill>
            <a:srgbClr val="A9D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C88C660-5784-1EDE-C912-A0577A37D37B}"/>
              </a:ext>
            </a:extLst>
          </p:cNvPr>
          <p:cNvSpPr/>
          <p:nvPr/>
        </p:nvSpPr>
        <p:spPr>
          <a:xfrm>
            <a:off x="7233313" y="5409694"/>
            <a:ext cx="1172245" cy="701232"/>
          </a:xfrm>
          <a:prstGeom prst="rect">
            <a:avLst/>
          </a:prstGeom>
          <a:solidFill>
            <a:srgbClr val="FB8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8B200A1-5B8A-D9D0-B577-3F8CC4909BEF}"/>
              </a:ext>
            </a:extLst>
          </p:cNvPr>
          <p:cNvSpPr/>
          <p:nvPr/>
        </p:nvSpPr>
        <p:spPr>
          <a:xfrm>
            <a:off x="8996469" y="4192769"/>
            <a:ext cx="1172245" cy="701232"/>
          </a:xfrm>
          <a:prstGeom prst="rect">
            <a:avLst/>
          </a:prstGeom>
          <a:solidFill>
            <a:srgbClr val="FB87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77279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BF32C-344C-CADD-29A2-C2263001F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090BE5-73EE-73F4-4CC2-C3C7302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0252490-C8E8-D95E-B8EC-03482382AD4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239790-F5CC-9E69-3439-0F9968C94D86}"/>
              </a:ext>
            </a:extLst>
          </p:cNvPr>
          <p:cNvSpPr txBox="1"/>
          <p:nvPr/>
        </p:nvSpPr>
        <p:spPr>
          <a:xfrm>
            <a:off x="838200" y="1412503"/>
            <a:ext cx="3836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Порог 0.</a:t>
            </a:r>
            <a:r>
              <a:rPr lang="en-US" b="1" dirty="0"/>
              <a:t>8</a:t>
            </a:r>
            <a:r>
              <a:rPr lang="ru-RU" b="1" dirty="0"/>
              <a:t>: </a:t>
            </a:r>
            <a:r>
              <a:rPr lang="ru-RU" dirty="0"/>
              <a:t>осторожная стратегия</a:t>
            </a: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118E246F-6D29-78EC-72B8-890E4D0E0132}"/>
              </a:ext>
            </a:extLst>
          </p:cNvPr>
          <p:cNvSpPr/>
          <p:nvPr/>
        </p:nvSpPr>
        <p:spPr>
          <a:xfrm>
            <a:off x="706581" y="2639292"/>
            <a:ext cx="4592783" cy="15534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542FBD-E367-019E-7DE2-689F7FA9372B}"/>
                  </a:ext>
                </a:extLst>
              </p:cNvPr>
              <p:cNvSpPr txBox="1"/>
              <p:nvPr/>
            </p:nvSpPr>
            <p:spPr>
              <a:xfrm>
                <a:off x="5713712" y="3167005"/>
                <a:ext cx="377269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𝑃𝑟𝑒𝑐𝑖𝑠𝑖𝑜𝑛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A542FBD-E367-019E-7DE2-689F7FA93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712" y="3167005"/>
                <a:ext cx="3772699" cy="525016"/>
              </a:xfrm>
              <a:prstGeom prst="rect">
                <a:avLst/>
              </a:prstGeom>
              <a:blipFill>
                <a:blip r:embed="rId2"/>
                <a:stretch>
                  <a:fillRect l="-671" t="-4762" r="-1007" b="-1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26DE8-DEBF-6C26-449C-6F990D606469}"/>
                  </a:ext>
                </a:extLst>
              </p:cNvPr>
              <p:cNvSpPr txBox="1"/>
              <p:nvPr/>
            </p:nvSpPr>
            <p:spPr>
              <a:xfrm>
                <a:off x="5714954" y="4192769"/>
                <a:ext cx="3458639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𝑅𝑒𝑐𝑎𝑙𝑙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26DE8-DEBF-6C26-449C-6F990D606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54" y="4192769"/>
                <a:ext cx="3458639" cy="525016"/>
              </a:xfrm>
              <a:prstGeom prst="rect">
                <a:avLst/>
              </a:prstGeom>
              <a:blipFill>
                <a:blip r:embed="rId3"/>
                <a:stretch>
                  <a:fillRect l="-1095" t="-7143" r="-730" b="-119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A39F68-D775-9895-6912-33102612A41C}"/>
                  </a:ext>
                </a:extLst>
              </p:cNvPr>
              <p:cNvSpPr txBox="1"/>
              <p:nvPr/>
            </p:nvSpPr>
            <p:spPr>
              <a:xfrm>
                <a:off x="5713712" y="2141241"/>
                <a:ext cx="5723105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A39F68-D775-9895-6912-33102612A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3712" y="2141241"/>
                <a:ext cx="5723105" cy="525016"/>
              </a:xfrm>
              <a:prstGeom prst="rect">
                <a:avLst/>
              </a:prstGeom>
              <a:blipFill>
                <a:blip r:embed="rId4"/>
                <a:stretch>
                  <a:fillRect l="-885" t="-4762" r="-442" b="-142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BB3597-5E14-D3E8-8D49-4E8E5FFF7B1B}"/>
                  </a:ext>
                </a:extLst>
              </p:cNvPr>
              <p:cNvSpPr txBox="1"/>
              <p:nvPr/>
            </p:nvSpPr>
            <p:spPr>
              <a:xfrm>
                <a:off x="5714954" y="5218533"/>
                <a:ext cx="5160131" cy="5305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2∗0.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∗0.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75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+0.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=0.67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BB3597-5E14-D3E8-8D49-4E8E5FFF7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4954" y="5218533"/>
                <a:ext cx="5160131" cy="530594"/>
              </a:xfrm>
              <a:prstGeom prst="rect">
                <a:avLst/>
              </a:prstGeom>
              <a:blipFill>
                <a:blip r:embed="rId5"/>
                <a:stretch>
                  <a:fillRect l="-245" t="-2326" r="-490" b="-13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694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45B98-9BDD-3D84-F76F-5140CEC2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62E31-E317-765B-6F8A-400D04EB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2BAF9D4-F4EF-300E-5C1E-46107317963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6783BBE-66DC-3A2E-CA6F-8C115DDD4C48}"/>
              </a:ext>
            </a:extLst>
          </p:cNvPr>
          <p:cNvSpPr txBox="1"/>
          <p:nvPr/>
        </p:nvSpPr>
        <p:spPr>
          <a:xfrm>
            <a:off x="5795749" y="1556864"/>
            <a:ext cx="583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Кто получит </a:t>
            </a:r>
            <a:r>
              <a:rPr lang="ru-RU" b="1" dirty="0" err="1"/>
              <a:t>оффер</a:t>
            </a:r>
            <a:r>
              <a:rPr lang="ru-RU" b="1" dirty="0"/>
              <a:t> (порог 0.5): </a:t>
            </a:r>
            <a:r>
              <a:rPr lang="en-US" dirty="0"/>
              <a:t>A, B, C, D, E, F, G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D6A7A-7099-2572-7626-7DD30148751A}"/>
              </a:ext>
            </a:extLst>
          </p:cNvPr>
          <p:cNvSpPr txBox="1"/>
          <p:nvPr/>
        </p:nvSpPr>
        <p:spPr>
          <a:xfrm>
            <a:off x="5795749" y="2018529"/>
            <a:ext cx="5046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Кто получит </a:t>
            </a:r>
            <a:r>
              <a:rPr lang="ru-RU" b="1" dirty="0" err="1"/>
              <a:t>оффер</a:t>
            </a:r>
            <a:r>
              <a:rPr lang="ru-RU" b="1" dirty="0"/>
              <a:t> (порог 0.5): </a:t>
            </a:r>
            <a:r>
              <a:rPr lang="en-US" dirty="0"/>
              <a:t>A, B, C, D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7BED9D-4E2B-B973-C19E-DB91B4984621}"/>
              </a:ext>
            </a:extLst>
          </p:cNvPr>
          <p:cNvSpPr txBox="1"/>
          <p:nvPr/>
        </p:nvSpPr>
        <p:spPr>
          <a:xfrm>
            <a:off x="6096000" y="3148445"/>
            <a:ext cx="525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Допустим: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клиент откликнулся (</a:t>
            </a:r>
            <a:r>
              <a:rPr lang="en-US" dirty="0"/>
              <a:t>TP), </a:t>
            </a:r>
            <a:r>
              <a:rPr lang="ru-RU" dirty="0"/>
              <a:t>то чистая прибыль с него = </a:t>
            </a:r>
            <a:r>
              <a:rPr lang="en-US" dirty="0"/>
              <a:t>$</a:t>
            </a:r>
            <a:r>
              <a:rPr lang="ru-RU" dirty="0"/>
              <a:t>1000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Каждый контакт стоит </a:t>
            </a:r>
            <a:r>
              <a:rPr lang="en-US" dirty="0"/>
              <a:t>$</a:t>
            </a:r>
            <a:r>
              <a:rPr lang="ru-RU" dirty="0"/>
              <a:t>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CCBC8C-A1EF-555B-7AE2-3E64986542CD}"/>
                  </a:ext>
                </a:extLst>
              </p:cNvPr>
              <p:cNvSpPr txBox="1"/>
              <p:nvPr/>
            </p:nvSpPr>
            <p:spPr>
              <a:xfrm>
                <a:off x="6096000" y="4839471"/>
                <a:ext cx="420788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/>
                  <a:t>Прибыль</a:t>
                </a:r>
                <a:r>
                  <a:rPr lang="en-US" dirty="0"/>
                  <a:t>:</a:t>
                </a:r>
                <a:endParaRPr lang="ru-RU" dirty="0"/>
              </a:p>
              <a:p>
                <a:endParaRPr lang="ru-R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𝑃𝑟𝑜𝑓𝑖𝑡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∗1000−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∗100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CCBC8C-A1EF-555B-7AE2-3E6498654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839471"/>
                <a:ext cx="4207883" cy="923330"/>
              </a:xfrm>
              <a:prstGeom prst="rect">
                <a:avLst/>
              </a:prstGeom>
              <a:blipFill>
                <a:blip r:embed="rId2"/>
                <a:stretch>
                  <a:fillRect l="-1205" t="-4110" b="-68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1399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9B9F4-2C13-7A20-0E95-60D1803F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6DE5BE-7C10-E9EC-9334-59450673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1606"/>
            <a:ext cx="10515600" cy="1325563"/>
          </a:xfrm>
        </p:spPr>
        <p:txBody>
          <a:bodyPr>
            <a:normAutofit/>
          </a:bodyPr>
          <a:lstStyle/>
          <a:p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Метрики задачи классификации: считаем руками</a:t>
            </a:r>
            <a:endParaRPr lang="ru-RU" sz="36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2E77000-D733-4E68-BCE8-A861FB7A2D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18529"/>
          <a:ext cx="4285674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928">
                  <a:extLst>
                    <a:ext uri="{9D8B030D-6E8A-4147-A177-3AD203B41FA5}">
                      <a16:colId xmlns:a16="http://schemas.microsoft.com/office/drawing/2014/main" val="2329806688"/>
                    </a:ext>
                  </a:extLst>
                </a:gridCol>
                <a:gridCol w="1834188">
                  <a:extLst>
                    <a:ext uri="{9D8B030D-6E8A-4147-A177-3AD203B41FA5}">
                      <a16:colId xmlns:a16="http://schemas.microsoft.com/office/drawing/2014/main" val="1856933519"/>
                    </a:ext>
                  </a:extLst>
                </a:gridCol>
                <a:gridCol w="1428558">
                  <a:extLst>
                    <a:ext uri="{9D8B030D-6E8A-4147-A177-3AD203B41FA5}">
                      <a16:colId xmlns:a16="http://schemas.microsoft.com/office/drawing/2014/main" val="3425472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Клиент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Вероятность отклика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Факт отклика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096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611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564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032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197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001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9902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0.55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75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9222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225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0.20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81231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EF010DC-DA62-5702-AB28-8E0DFFFCE02F}"/>
              </a:ext>
            </a:extLst>
          </p:cNvPr>
          <p:cNvSpPr txBox="1"/>
          <p:nvPr/>
        </p:nvSpPr>
        <p:spPr>
          <a:xfrm>
            <a:off x="5816531" y="1597169"/>
            <a:ext cx="332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Прибыль (порог 0.5): </a:t>
            </a:r>
            <a:r>
              <a:rPr lang="ru-RU" dirty="0"/>
              <a:t>3300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DCDC1-A9C6-7455-FB6F-30F687E3AC5D}"/>
              </a:ext>
            </a:extLst>
          </p:cNvPr>
          <p:cNvSpPr txBox="1"/>
          <p:nvPr/>
        </p:nvSpPr>
        <p:spPr>
          <a:xfrm>
            <a:off x="5831471" y="2110155"/>
            <a:ext cx="332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Прибыль (порог 0.8): </a:t>
            </a:r>
            <a:r>
              <a:rPr lang="ru-RU" dirty="0"/>
              <a:t>2600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CFB19B-EB4F-140C-39F3-F70ED3105646}"/>
              </a:ext>
            </a:extLst>
          </p:cNvPr>
          <p:cNvSpPr txBox="1"/>
          <p:nvPr/>
        </p:nvSpPr>
        <p:spPr>
          <a:xfrm>
            <a:off x="5831471" y="2715441"/>
            <a:ext cx="49231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дешевом контакте выгоднее более низкий порог:</a:t>
            </a:r>
          </a:p>
          <a:p>
            <a:endParaRPr lang="ru-RU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стреляем шире, ловим больше </a:t>
            </a:r>
            <a:r>
              <a:rPr lang="en-US" dirty="0"/>
              <a:t>True Positive, </a:t>
            </a:r>
            <a:r>
              <a:rPr lang="ru-RU" dirty="0"/>
              <a:t>высокий </a:t>
            </a:r>
            <a:r>
              <a:rPr lang="en-US" dirty="0"/>
              <a:t>Recall </a:t>
            </a:r>
            <a:r>
              <a:rPr lang="ru-RU" dirty="0"/>
              <a:t>дает свои плюсы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761DA5-0A1B-E905-E717-BE1D07C44712}"/>
              </a:ext>
            </a:extLst>
          </p:cNvPr>
          <p:cNvSpPr txBox="1"/>
          <p:nvPr/>
        </p:nvSpPr>
        <p:spPr>
          <a:xfrm>
            <a:off x="5831471" y="4522167"/>
            <a:ext cx="49231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меняем стоимость контакта = </a:t>
            </a:r>
            <a:r>
              <a:rPr lang="en-US" dirty="0"/>
              <a:t>$400</a:t>
            </a:r>
            <a:r>
              <a:rPr lang="ru-RU" dirty="0"/>
              <a:t>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более строгий порог приносит больше денег, т.к. цена ошибки высока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9A46F-EF9A-220E-718E-E4E9C81971C5}"/>
              </a:ext>
            </a:extLst>
          </p:cNvPr>
          <p:cNvSpPr txBox="1"/>
          <p:nvPr/>
        </p:nvSpPr>
        <p:spPr>
          <a:xfrm>
            <a:off x="5892730" y="4928965"/>
            <a:ext cx="332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Прибыль (порог 0.5): </a:t>
            </a:r>
            <a:r>
              <a:rPr lang="en-US" dirty="0"/>
              <a:t>1200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4FEEE-820E-335C-135F-BA01C7FFCC41}"/>
              </a:ext>
            </a:extLst>
          </p:cNvPr>
          <p:cNvSpPr txBox="1"/>
          <p:nvPr/>
        </p:nvSpPr>
        <p:spPr>
          <a:xfrm>
            <a:off x="5907670" y="5379605"/>
            <a:ext cx="332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Прибыль (порог 0.8): </a:t>
            </a:r>
            <a:r>
              <a:rPr lang="en-US" dirty="0"/>
              <a:t>1400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82592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9194</TotalTime>
  <Words>2191</Words>
  <Application>Microsoft Macintosh PowerPoint</Application>
  <PresentationFormat>Широкоэкранный</PresentationFormat>
  <Paragraphs>534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Courier New</vt:lpstr>
      <vt:lpstr>Wingdings</vt:lpstr>
      <vt:lpstr>Тема Office</vt:lpstr>
      <vt:lpstr>Семинар 4</vt:lpstr>
      <vt:lpstr>Что сегодня будем делать</vt:lpstr>
      <vt:lpstr>Суть</vt:lpstr>
      <vt:lpstr>Метрики задачи регрессии: MAE</vt:lpstr>
      <vt:lpstr>Метрики задачи регрессии: MAE</vt:lpstr>
      <vt:lpstr>Метрики задачи регрессии: MSE / RMSE</vt:lpstr>
      <vt:lpstr>Метрики задачи регрессии: MSE / RMSE</vt:lpstr>
      <vt:lpstr>Метрики задачи регрессии: MAPE</vt:lpstr>
      <vt:lpstr>Метрики задачи регрессии: MAPE</vt:lpstr>
      <vt:lpstr>Метрики задачи регрессии: R^2</vt:lpstr>
      <vt:lpstr>Метрики задачи регрессии: R^2</vt:lpstr>
      <vt:lpstr>Метрики задачи классификации: матрица ошибок</vt:lpstr>
      <vt:lpstr>Метрики задачи классификации: Accuracy</vt:lpstr>
      <vt:lpstr>Метрики задачи классификации: Accuracy</vt:lpstr>
      <vt:lpstr>Метрики задачи классификации: Precision</vt:lpstr>
      <vt:lpstr>Метрики задачи классификации: Precision</vt:lpstr>
      <vt:lpstr>Метрики задачи классификации: Recall</vt:lpstr>
      <vt:lpstr>Метрики задачи классификации: Recall</vt:lpstr>
      <vt:lpstr>Метрики задачи классификации: F1-score</vt:lpstr>
      <vt:lpstr>Метрики задачи классификации: ROC-AUC</vt:lpstr>
      <vt:lpstr>Метрики задачи классификации: ROC-AUC</vt:lpstr>
      <vt:lpstr>Метрики задачи классификации: считаем руками</vt:lpstr>
      <vt:lpstr>Метрики задачи классификации: считаем руками</vt:lpstr>
      <vt:lpstr>Метрики задачи классификации: считаем руками</vt:lpstr>
      <vt:lpstr>Метрики задачи классификации: считаем руками</vt:lpstr>
      <vt:lpstr>Метрики задачи классификации: считаем руками</vt:lpstr>
      <vt:lpstr>Метрики задачи классификации: считаем руками</vt:lpstr>
      <vt:lpstr>Метрики задачи классификации: считаем руками</vt:lpstr>
      <vt:lpstr>Метрики задачи классификации: считаем руками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adshishov</dc:creator>
  <cp:lastModifiedBy>Arsenii Smirnov</cp:lastModifiedBy>
  <cp:revision>14</cp:revision>
  <dcterms:created xsi:type="dcterms:W3CDTF">2025-11-03T12:03:48Z</dcterms:created>
  <dcterms:modified xsi:type="dcterms:W3CDTF">2025-11-26T14:34:52Z</dcterms:modified>
</cp:coreProperties>
</file>